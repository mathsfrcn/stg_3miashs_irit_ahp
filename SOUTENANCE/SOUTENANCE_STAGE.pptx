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Arimo Bold" charset="1" panose="020B0704020202020204"/>
      <p:regular r:id="rId30"/>
    </p:embeddedFont>
    <p:embeddedFont>
      <p:font typeface="Arimo" charset="1" panose="020B0604020202020204"/>
      <p:regular r:id="rId31"/>
    </p:embeddedFont>
    <p:embeddedFont>
      <p:font typeface="Open Sauce Bold" charset="1" panose="00000800000000000000"/>
      <p:regular r:id="rId32"/>
    </p:embeddedFont>
    <p:embeddedFont>
      <p:font typeface="Open Sauce" charset="1" panose="00000500000000000000"/>
      <p:regular r:id="rId33"/>
    </p:embeddedFont>
    <p:embeddedFont>
      <p:font typeface="Inter Bold" charset="1" panose="020B0802030000000004"/>
      <p:regular r:id="rId34"/>
    </p:embeddedFont>
    <p:embeddedFont>
      <p:font typeface="Inter" charset="1" panose="020B0502030000000004"/>
      <p:regular r:id="rId35"/>
    </p:embeddedFont>
    <p:embeddedFont>
      <p:font typeface="Open Sans" charset="1" panose="020B0606030504020204"/>
      <p:regular r:id="rId36"/>
    </p:embeddedFont>
    <p:embeddedFont>
      <p:font typeface="Open Sans Bold" charset="1" panose="020B08060305040202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55531" y="7058757"/>
            <a:ext cx="5128919" cy="2663093"/>
          </a:xfrm>
          <a:custGeom>
            <a:avLst/>
            <a:gdLst/>
            <a:ahLst/>
            <a:cxnLst/>
            <a:rect r="r" b="b" t="t" l="l"/>
            <a:pathLst>
              <a:path h="2663093" w="5128919">
                <a:moveTo>
                  <a:pt x="0" y="0"/>
                </a:moveTo>
                <a:lnTo>
                  <a:pt x="5128920" y="0"/>
                </a:lnTo>
                <a:lnTo>
                  <a:pt x="5128920" y="2663093"/>
                </a:lnTo>
                <a:lnTo>
                  <a:pt x="0" y="2663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48400" y="3121611"/>
            <a:ext cx="2536050" cy="2723707"/>
          </a:xfrm>
          <a:custGeom>
            <a:avLst/>
            <a:gdLst/>
            <a:ahLst/>
            <a:cxnLst/>
            <a:rect r="r" b="b" t="t" l="l"/>
            <a:pathLst>
              <a:path h="2723707" w="2536050">
                <a:moveTo>
                  <a:pt x="0" y="0"/>
                </a:moveTo>
                <a:lnTo>
                  <a:pt x="2536051" y="0"/>
                </a:lnTo>
                <a:lnTo>
                  <a:pt x="2536051" y="2723708"/>
                </a:lnTo>
                <a:lnTo>
                  <a:pt x="0" y="2723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948627" y="410778"/>
            <a:ext cx="6835823" cy="1367165"/>
          </a:xfrm>
          <a:custGeom>
            <a:avLst/>
            <a:gdLst/>
            <a:ahLst/>
            <a:cxnLst/>
            <a:rect r="r" b="b" t="t" l="l"/>
            <a:pathLst>
              <a:path h="1367165" w="6835823">
                <a:moveTo>
                  <a:pt x="0" y="0"/>
                </a:moveTo>
                <a:lnTo>
                  <a:pt x="6835824" y="0"/>
                </a:lnTo>
                <a:lnTo>
                  <a:pt x="6835824" y="1367165"/>
                </a:lnTo>
                <a:lnTo>
                  <a:pt x="0" y="13671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410778"/>
            <a:ext cx="5718859" cy="1367165"/>
          </a:xfrm>
          <a:custGeom>
            <a:avLst/>
            <a:gdLst/>
            <a:ahLst/>
            <a:cxnLst/>
            <a:rect r="r" b="b" t="t" l="l"/>
            <a:pathLst>
              <a:path h="1367165" w="5718859">
                <a:moveTo>
                  <a:pt x="0" y="0"/>
                </a:moveTo>
                <a:lnTo>
                  <a:pt x="5718859" y="0"/>
                </a:lnTo>
                <a:lnTo>
                  <a:pt x="5718859" y="1367165"/>
                </a:lnTo>
                <a:lnTo>
                  <a:pt x="0" y="13671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39550" y="3603269"/>
            <a:ext cx="10499439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70"/>
              </a:lnSpc>
            </a:pPr>
            <a:r>
              <a:rPr lang="en-US" sz="797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Soutenance de stage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9550" y="2737638"/>
            <a:ext cx="935588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INSTITUT DE RECHERCHE EN INFORMATIQUE DE TOULOUSE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866803"/>
            <a:ext cx="571885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Auteur : FRANCINE-HABAS Mathis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9550" y="4847503"/>
            <a:ext cx="9002285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  <a:r>
              <a:rPr lang="en-US" b="true" sz="347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Développement d’une interface permettant d’intégrer un modèle existant d’aide à la décision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477375"/>
            <a:ext cx="179341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2024-2025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577004"/>
            <a:ext cx="4607545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Equipe : TRAVERSAC Jérémy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               GALASSO François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               ZARATE Pascale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               THIERRY Caroline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57185" y="1528365"/>
            <a:ext cx="237363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b="true" sz="79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Plan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53813" y="4080354"/>
            <a:ext cx="15180375" cy="2126291"/>
            <a:chOff x="0" y="0"/>
            <a:chExt cx="20240500" cy="2835055"/>
          </a:xfrm>
        </p:grpSpPr>
        <p:sp>
          <p:nvSpPr>
            <p:cNvPr name="AutoShape 4" id="4"/>
            <p:cNvSpPr/>
            <p:nvPr/>
          </p:nvSpPr>
          <p:spPr>
            <a:xfrm flipV="true">
              <a:off x="2284545" y="1435554"/>
              <a:ext cx="15941644" cy="10462"/>
            </a:xfrm>
            <a:prstGeom prst="line">
              <a:avLst/>
            </a:prstGeom>
            <a:ln cap="rnd" w="33716">
              <a:solidFill>
                <a:srgbClr val="000000">
                  <a:alpha val="34902"/>
                </a:srgbClr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5" id="5"/>
            <p:cNvGrpSpPr/>
            <p:nvPr/>
          </p:nvGrpSpPr>
          <p:grpSpPr>
            <a:xfrm rot="0">
              <a:off x="2028916" y="1298508"/>
              <a:ext cx="295016" cy="295016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9976FF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6002876" y="1298508"/>
              <a:ext cx="295016" cy="295016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884FA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9972951" y="1332889"/>
              <a:ext cx="295016" cy="295016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9976FF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13943027" y="1298508"/>
              <a:ext cx="295016" cy="295016"/>
              <a:chOff x="0" y="0"/>
              <a:chExt cx="6350000" cy="635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884FA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1193048" y="-76200"/>
              <a:ext cx="1995137" cy="8183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03"/>
                </a:lnSpc>
              </a:pPr>
              <a:r>
                <a:rPr lang="en-US" b="true" sz="3716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2076076"/>
              <a:ext cx="4352848" cy="758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31"/>
                </a:lnSpc>
              </a:pPr>
              <a:r>
                <a:rPr lang="en-US" sz="3451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Introduction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973960" y="2076076"/>
              <a:ext cx="4352848" cy="758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31"/>
                </a:lnSpc>
              </a:pPr>
              <a:r>
                <a:rPr lang="en-US" sz="3451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Contexte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7944036" y="2076076"/>
              <a:ext cx="4352848" cy="758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31"/>
                </a:lnSpc>
              </a:pPr>
              <a:r>
                <a:rPr lang="en-US" sz="3451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Objectifs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1914111" y="2076076"/>
              <a:ext cx="4352848" cy="758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31"/>
                </a:lnSpc>
              </a:pPr>
              <a:r>
                <a:rPr lang="en-US" sz="3451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Propositions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5887652" y="2055846"/>
              <a:ext cx="4352848" cy="758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31"/>
                </a:lnSpc>
              </a:pPr>
              <a:r>
                <a:rPr lang="en-US" sz="3451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Conclusion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17931173" y="1288046"/>
              <a:ext cx="295016" cy="295016"/>
              <a:chOff x="0" y="0"/>
              <a:chExt cx="6350000" cy="6350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884FA"/>
              </a:solid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5152816" y="-76200"/>
              <a:ext cx="1995137" cy="8183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03"/>
                </a:lnSpc>
              </a:pPr>
              <a:r>
                <a:rPr lang="en-US" b="true" sz="3716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2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9112583" y="-76200"/>
              <a:ext cx="1995137" cy="8183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03"/>
                </a:lnSpc>
              </a:pPr>
              <a:r>
                <a:rPr lang="en-US" b="true" sz="3716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3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3072351" y="-76200"/>
              <a:ext cx="1995137" cy="8183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03"/>
                </a:lnSpc>
              </a:pPr>
              <a:r>
                <a:rPr lang="en-US" b="true" sz="3716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4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7039882" y="-76200"/>
              <a:ext cx="1995137" cy="8183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03"/>
                </a:lnSpc>
              </a:pPr>
              <a:r>
                <a:rPr lang="en-US" b="true" sz="3716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7400264" y="0"/>
            <a:ext cx="887736" cy="887736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26"/>
                </a:lnSpc>
              </a:pPr>
              <a:r>
                <a:rPr lang="en-US" b="true" sz="29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1994" y="886236"/>
            <a:ext cx="7812006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999" b="true">
                <a:solidFill>
                  <a:srgbClr val="9976FF"/>
                </a:solidFill>
                <a:latin typeface="Arimo Bold"/>
                <a:ea typeface="Arimo Bold"/>
                <a:cs typeface="Arimo Bold"/>
                <a:sym typeface="Arimo Bold"/>
              </a:rPr>
              <a:t>Contexte du stage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400264" y="0"/>
            <a:ext cx="887736" cy="88773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26"/>
                </a:lnSpc>
              </a:pPr>
              <a:r>
                <a:rPr lang="en-US" b="true" sz="29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117375" y="330780"/>
            <a:ext cx="14861238" cy="9545606"/>
            <a:chOff x="0" y="0"/>
            <a:chExt cx="19814984" cy="1272747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8456086" y="0"/>
              <a:ext cx="3112636" cy="3112636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E9DC7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28724" lIns="28724" bIns="28724" rIns="28724"/>
              <a:lstStyle/>
              <a:p>
                <a:pPr algn="ctr">
                  <a:lnSpc>
                    <a:spcPts val="2586"/>
                  </a:lnSpc>
                </a:pPr>
                <a:r>
                  <a:rPr lang="en-US" b="true" sz="1847">
                    <a:solidFill>
                      <a:srgbClr val="FFFFFF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Centre National de la Recherche Scientifique</a:t>
                </a:r>
              </a:p>
            </p:txBody>
          </p:sp>
        </p:grpSp>
        <p:sp>
          <p:nvSpPr>
            <p:cNvPr name="AutoShape 10" id="10"/>
            <p:cNvSpPr/>
            <p:nvPr/>
          </p:nvSpPr>
          <p:spPr>
            <a:xfrm>
              <a:off x="10012404" y="3112636"/>
              <a:ext cx="0" cy="475138"/>
            </a:xfrm>
            <a:prstGeom prst="line">
              <a:avLst/>
            </a:prstGeom>
            <a:ln cap="flat" w="25400">
              <a:solidFill>
                <a:srgbClr val="929292"/>
              </a:solidFill>
              <a:prstDash val="solid"/>
              <a:headEnd type="triangle" len="med" w="lg"/>
              <a:tailEnd type="none" len="sm" w="sm"/>
            </a:ln>
          </p:spPr>
        </p:sp>
        <p:grpSp>
          <p:nvGrpSpPr>
            <p:cNvPr name="Group 11" id="11"/>
            <p:cNvGrpSpPr/>
            <p:nvPr/>
          </p:nvGrpSpPr>
          <p:grpSpPr>
            <a:xfrm rot="0">
              <a:off x="4468103" y="5120178"/>
              <a:ext cx="2970482" cy="2970482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DA3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8724" lIns="28724" bIns="28724" rIns="28724"/>
              <a:lstStyle/>
              <a:p>
                <a:pPr algn="ctr">
                  <a:lnSpc>
                    <a:spcPts val="2586"/>
                  </a:lnSpc>
                </a:pPr>
                <a:r>
                  <a:rPr lang="en-US" b="true" sz="1847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Universités Toulousaines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5348775" y="8790331"/>
              <a:ext cx="2226820" cy="2226820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DA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143619" lIns="143619" bIns="143619" rIns="143619"/>
              <a:lstStyle/>
              <a:p>
                <a:pPr algn="ctr">
                  <a:lnSpc>
                    <a:spcPts val="2078"/>
                  </a:lnSpc>
                </a:pPr>
                <a:r>
                  <a:rPr lang="en-US" sz="1731">
                    <a:solidFill>
                      <a:srgbClr val="000001"/>
                    </a:solidFill>
                    <a:latin typeface="Inter"/>
                    <a:ea typeface="Inter"/>
                    <a:cs typeface="Inter"/>
                    <a:sym typeface="Inter"/>
                  </a:rPr>
                  <a:t>Capitole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033451" y="7689784"/>
              <a:ext cx="2226820" cy="2226820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DA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143619" lIns="143619" bIns="143619" rIns="143619"/>
              <a:lstStyle/>
              <a:p>
                <a:pPr algn="ctr" marL="0" indent="0" lvl="0">
                  <a:lnSpc>
                    <a:spcPts val="2078"/>
                  </a:lnSpc>
                  <a:spcBef>
                    <a:spcPct val="0"/>
                  </a:spcBef>
                </a:pPr>
                <a:r>
                  <a:rPr lang="en-US" sz="1731">
                    <a:solidFill>
                      <a:srgbClr val="000001"/>
                    </a:solidFill>
                    <a:latin typeface="Inter"/>
                    <a:ea typeface="Inter"/>
                    <a:cs typeface="Inter"/>
                    <a:sym typeface="Inter"/>
                  </a:rPr>
                  <a:t>Jean-Jaurès</a:t>
                </a:r>
              </a:p>
            </p:txBody>
          </p:sp>
        </p:grpSp>
        <p:sp>
          <p:nvSpPr>
            <p:cNvPr name="AutoShape 20" id="20"/>
            <p:cNvSpPr/>
            <p:nvPr/>
          </p:nvSpPr>
          <p:spPr>
            <a:xfrm flipH="true" flipV="true">
              <a:off x="6179829" y="8073502"/>
              <a:ext cx="112572" cy="729693"/>
            </a:xfrm>
            <a:prstGeom prst="line">
              <a:avLst/>
            </a:prstGeom>
            <a:ln cap="flat" w="25400">
              <a:solidFill>
                <a:srgbClr val="929292"/>
              </a:solidFill>
              <a:prstDash val="solid"/>
              <a:headEnd type="triangle" len="med" w="lg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 flipV="true">
              <a:off x="4023503" y="7521186"/>
              <a:ext cx="760438" cy="595504"/>
            </a:xfrm>
            <a:prstGeom prst="line">
              <a:avLst/>
            </a:prstGeom>
            <a:ln cap="flat" w="25400">
              <a:solidFill>
                <a:srgbClr val="929292"/>
              </a:solidFill>
              <a:prstDash val="solid"/>
              <a:headEnd type="triangle" len="med" w="lg"/>
              <a:tailEnd type="none" len="sm" w="sm"/>
            </a:ln>
          </p:spPr>
        </p:sp>
        <p:grpSp>
          <p:nvGrpSpPr>
            <p:cNvPr name="Group 22" id="22"/>
            <p:cNvGrpSpPr/>
            <p:nvPr/>
          </p:nvGrpSpPr>
          <p:grpSpPr>
            <a:xfrm rot="0">
              <a:off x="2466444" y="3365156"/>
              <a:ext cx="2226820" cy="2226820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DA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143619" lIns="143619" bIns="143619" rIns="143619"/>
              <a:lstStyle/>
              <a:p>
                <a:pPr algn="ctr" marL="0" indent="0" lvl="0">
                  <a:lnSpc>
                    <a:spcPts val="2078"/>
                  </a:lnSpc>
                  <a:spcBef>
                    <a:spcPct val="0"/>
                  </a:spcBef>
                </a:pPr>
                <a:r>
                  <a:rPr lang="en-US" sz="1731">
                    <a:solidFill>
                      <a:srgbClr val="000001"/>
                    </a:solidFill>
                    <a:latin typeface="Inter"/>
                    <a:ea typeface="Inter"/>
                    <a:cs typeface="Inter"/>
                    <a:sym typeface="Inter"/>
                  </a:rPr>
                  <a:t>Paul Sabatier</a:t>
                </a:r>
              </a:p>
            </p:txBody>
          </p:sp>
        </p:grpSp>
        <p:sp>
          <p:nvSpPr>
            <p:cNvPr name="AutoShape 25" id="25"/>
            <p:cNvSpPr/>
            <p:nvPr/>
          </p:nvSpPr>
          <p:spPr>
            <a:xfrm>
              <a:off x="4403243" y="5228054"/>
              <a:ext cx="464334" cy="363923"/>
            </a:xfrm>
            <a:prstGeom prst="line">
              <a:avLst/>
            </a:prstGeom>
            <a:ln cap="flat" w="25400">
              <a:solidFill>
                <a:srgbClr val="929292"/>
              </a:solidFill>
              <a:prstDash val="solid"/>
              <a:headEnd type="arrow" len="sm" w="med"/>
              <a:tailEnd type="none" len="sm" w="sm"/>
            </a:ln>
          </p:spPr>
        </p:sp>
        <p:grpSp>
          <p:nvGrpSpPr>
            <p:cNvPr name="Group 26" id="26"/>
            <p:cNvGrpSpPr/>
            <p:nvPr/>
          </p:nvGrpSpPr>
          <p:grpSpPr>
            <a:xfrm rot="0">
              <a:off x="8147665" y="3587773"/>
              <a:ext cx="3729479" cy="3729479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6479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909"/>
                  </a:lnSpc>
                </a:pPr>
                <a:r>
                  <a:rPr lang="en-US" b="true" sz="2078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Institut de Recherche en Informatique de Toulouse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8503852" y="9026434"/>
              <a:ext cx="2970482" cy="2970482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90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8724" lIns="28724" bIns="28724" rIns="28724"/>
              <a:lstStyle/>
              <a:p>
                <a:pPr algn="ctr" marL="0" indent="0" lvl="0">
                  <a:lnSpc>
                    <a:spcPts val="2586"/>
                  </a:lnSpc>
                  <a:spcBef>
                    <a:spcPct val="0"/>
                  </a:spcBef>
                </a:pPr>
                <a:r>
                  <a:rPr lang="en-US" b="true" sz="1847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Institut Technologique de Rodez</a:t>
                </a: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3050733" y="3112636"/>
              <a:ext cx="2970482" cy="2970482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175D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28724" lIns="28724" bIns="28724" rIns="28724"/>
              <a:lstStyle/>
              <a:p>
                <a:pPr algn="ctr">
                  <a:lnSpc>
                    <a:spcPts val="2586"/>
                  </a:lnSpc>
                </a:pPr>
                <a:r>
                  <a:rPr lang="en-US" b="true" sz="1847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24 Equipes de recherche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16529216" y="4873655"/>
              <a:ext cx="3285768" cy="3159554"/>
              <a:chOff x="0" y="0"/>
              <a:chExt cx="1053148" cy="1012694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053148" cy="1012694"/>
              </a:xfrm>
              <a:custGeom>
                <a:avLst/>
                <a:gdLst/>
                <a:ahLst/>
                <a:cxnLst/>
                <a:rect r="r" b="b" t="t" l="l"/>
                <a:pathLst>
                  <a:path h="1012694" w="1053148">
                    <a:moveTo>
                      <a:pt x="526574" y="0"/>
                    </a:moveTo>
                    <a:cubicBezTo>
                      <a:pt x="235755" y="0"/>
                      <a:pt x="0" y="226699"/>
                      <a:pt x="0" y="506347"/>
                    </a:cubicBezTo>
                    <a:cubicBezTo>
                      <a:pt x="0" y="785995"/>
                      <a:pt x="235755" y="1012694"/>
                      <a:pt x="526574" y="1012694"/>
                    </a:cubicBezTo>
                    <a:cubicBezTo>
                      <a:pt x="817393" y="1012694"/>
                      <a:pt x="1053148" y="785995"/>
                      <a:pt x="1053148" y="506347"/>
                    </a:cubicBezTo>
                    <a:cubicBezTo>
                      <a:pt x="1053148" y="226699"/>
                      <a:pt x="817393" y="0"/>
                      <a:pt x="526574" y="0"/>
                    </a:cubicBezTo>
                    <a:close/>
                  </a:path>
                </a:pathLst>
              </a:custGeom>
              <a:solidFill>
                <a:srgbClr val="BAD6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98733" y="94940"/>
                <a:ext cx="855683" cy="822814"/>
              </a:xfrm>
              <a:prstGeom prst="rect">
                <a:avLst/>
              </a:prstGeom>
            </p:spPr>
            <p:txBody>
              <a:bodyPr anchor="ctr" rtlCol="false" tIns="143619" lIns="143619" bIns="143619" rIns="143619"/>
              <a:lstStyle/>
              <a:p>
                <a:pPr algn="ctr">
                  <a:lnSpc>
                    <a:spcPts val="2078"/>
                  </a:lnSpc>
                </a:pPr>
                <a:r>
                  <a:rPr lang="en-US" sz="1731">
                    <a:solidFill>
                      <a:srgbClr val="000001"/>
                    </a:solidFill>
                    <a:latin typeface="Inter"/>
                    <a:ea typeface="Inter"/>
                    <a:cs typeface="Inter"/>
                    <a:sym typeface="Inter"/>
                  </a:rPr>
                  <a:t>EQP. ADRIA :</a:t>
                </a:r>
              </a:p>
              <a:p>
                <a:pPr algn="ctr">
                  <a:lnSpc>
                    <a:spcPts val="2078"/>
                  </a:lnSpc>
                </a:pPr>
                <a:r>
                  <a:rPr lang="en-US" b="true" sz="1731">
                    <a:solidFill>
                      <a:srgbClr val="000001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Argumentation, Décision, Raisonnement, Incertitude et Apprentissage</a:t>
                </a: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12091572" y="10248365"/>
              <a:ext cx="2710158" cy="2479110"/>
              <a:chOff x="0" y="0"/>
              <a:chExt cx="888551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8855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88551">
                    <a:moveTo>
                      <a:pt x="444276" y="0"/>
                    </a:moveTo>
                    <a:cubicBezTo>
                      <a:pt x="198909" y="0"/>
                      <a:pt x="0" y="181951"/>
                      <a:pt x="0" y="406400"/>
                    </a:cubicBezTo>
                    <a:cubicBezTo>
                      <a:pt x="0" y="630849"/>
                      <a:pt x="198909" y="812800"/>
                      <a:pt x="444276" y="812800"/>
                    </a:cubicBezTo>
                    <a:cubicBezTo>
                      <a:pt x="689642" y="812800"/>
                      <a:pt x="888551" y="630849"/>
                      <a:pt x="888551" y="406400"/>
                    </a:cubicBezTo>
                    <a:cubicBezTo>
                      <a:pt x="888551" y="181951"/>
                      <a:pt x="689642" y="0"/>
                      <a:pt x="444276" y="0"/>
                    </a:cubicBezTo>
                    <a:close/>
                  </a:path>
                </a:pathLst>
              </a:custGeom>
              <a:solidFill>
                <a:srgbClr val="CAEDE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83302" y="76200"/>
                <a:ext cx="721948" cy="660400"/>
              </a:xfrm>
              <a:prstGeom prst="rect">
                <a:avLst/>
              </a:prstGeom>
            </p:spPr>
            <p:txBody>
              <a:bodyPr anchor="ctr" rtlCol="false" tIns="143619" lIns="143619" bIns="143619" rIns="143619"/>
              <a:lstStyle/>
              <a:p>
                <a:pPr algn="ctr">
                  <a:lnSpc>
                    <a:spcPts val="2078"/>
                  </a:lnSpc>
                </a:pPr>
                <a:r>
                  <a:rPr lang="en-US" sz="1731">
                    <a:solidFill>
                      <a:srgbClr val="000001"/>
                    </a:solidFill>
                    <a:latin typeface="Inter"/>
                    <a:ea typeface="Inter"/>
                    <a:cs typeface="Inter"/>
                    <a:sym typeface="Inter"/>
                  </a:rPr>
                  <a:t>Doctorant</a:t>
                </a:r>
              </a:p>
              <a:p>
                <a:pPr algn="ctr" marL="0" indent="0" lvl="0">
                  <a:lnSpc>
                    <a:spcPts val="2078"/>
                  </a:lnSpc>
                  <a:spcBef>
                    <a:spcPct val="0"/>
                  </a:spcBef>
                </a:pPr>
                <a:r>
                  <a:rPr lang="en-US" b="true" sz="1731">
                    <a:solidFill>
                      <a:srgbClr val="000001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Jérémy TRAVERSAC</a:t>
                </a:r>
              </a:p>
            </p:txBody>
          </p:sp>
        </p:grpSp>
        <p:sp>
          <p:nvSpPr>
            <p:cNvPr name="AutoShape 41" id="41"/>
            <p:cNvSpPr/>
            <p:nvPr/>
          </p:nvSpPr>
          <p:spPr>
            <a:xfrm flipV="true">
              <a:off x="7382439" y="5962138"/>
              <a:ext cx="835719" cy="237372"/>
            </a:xfrm>
            <a:prstGeom prst="line">
              <a:avLst/>
            </a:prstGeom>
            <a:ln cap="flat" w="25400">
              <a:solidFill>
                <a:srgbClr val="929292"/>
              </a:solidFill>
              <a:prstDash val="solid"/>
              <a:headEnd type="triangle" len="med" w="lg"/>
              <a:tailEnd type="none" len="sm" w="sm"/>
            </a:ln>
          </p:spPr>
        </p:sp>
        <p:sp>
          <p:nvSpPr>
            <p:cNvPr name="AutoShape 42" id="42"/>
            <p:cNvSpPr/>
            <p:nvPr/>
          </p:nvSpPr>
          <p:spPr>
            <a:xfrm flipH="true">
              <a:off x="11845060" y="4873655"/>
              <a:ext cx="1231229" cy="232615"/>
            </a:xfrm>
            <a:prstGeom prst="line">
              <a:avLst/>
            </a:prstGeom>
            <a:ln cap="flat" w="25400">
              <a:solidFill>
                <a:srgbClr val="929292"/>
              </a:solidFill>
              <a:prstDash val="solid"/>
              <a:headEnd type="triangle" len="med" w="lg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 flipH="true" flipV="true">
              <a:off x="15859194" y="5273131"/>
              <a:ext cx="861428" cy="439596"/>
            </a:xfrm>
            <a:prstGeom prst="line">
              <a:avLst/>
            </a:prstGeom>
            <a:ln cap="flat" w="25400">
              <a:solidFill>
                <a:srgbClr val="929292"/>
              </a:solidFill>
              <a:prstDash val="solid"/>
              <a:headEnd type="triangle" len="med" w="lg"/>
              <a:tailEnd type="none" len="sm" w="sm"/>
            </a:ln>
          </p:spPr>
        </p:sp>
        <p:sp>
          <p:nvSpPr>
            <p:cNvPr name="AutoShape 44" id="44"/>
            <p:cNvSpPr/>
            <p:nvPr/>
          </p:nvSpPr>
          <p:spPr>
            <a:xfrm flipH="true" flipV="true">
              <a:off x="11418816" y="10915359"/>
              <a:ext cx="732688" cy="206875"/>
            </a:xfrm>
            <a:prstGeom prst="line">
              <a:avLst/>
            </a:prstGeom>
            <a:ln cap="flat" w="25400">
              <a:solidFill>
                <a:srgbClr val="929292"/>
              </a:solidFill>
              <a:prstDash val="solid"/>
              <a:headEnd type="triangle" len="med" w="lg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 flipV="true">
              <a:off x="9995937" y="7317233"/>
              <a:ext cx="7876" cy="1709216"/>
            </a:xfrm>
            <a:prstGeom prst="line">
              <a:avLst/>
            </a:prstGeom>
            <a:ln cap="flat" w="25400">
              <a:solidFill>
                <a:srgbClr val="929292"/>
              </a:solidFill>
              <a:prstDash val="solid"/>
              <a:headEnd type="triangle" len="med" w="lg"/>
              <a:tailEnd type="none" len="sm" w="sm"/>
            </a:ln>
          </p:spPr>
        </p:sp>
        <p:grpSp>
          <p:nvGrpSpPr>
            <p:cNvPr name="Group 46" id="46"/>
            <p:cNvGrpSpPr/>
            <p:nvPr/>
          </p:nvGrpSpPr>
          <p:grpSpPr>
            <a:xfrm rot="0">
              <a:off x="15536233" y="9026434"/>
              <a:ext cx="3474682" cy="3442025"/>
              <a:chOff x="0" y="0"/>
              <a:chExt cx="1088865" cy="1078632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088865" cy="1078632"/>
              </a:xfrm>
              <a:custGeom>
                <a:avLst/>
                <a:gdLst/>
                <a:ahLst/>
                <a:cxnLst/>
                <a:rect r="r" b="b" t="t" l="l"/>
                <a:pathLst>
                  <a:path h="1078632" w="1088865">
                    <a:moveTo>
                      <a:pt x="544433" y="0"/>
                    </a:moveTo>
                    <a:cubicBezTo>
                      <a:pt x="243751" y="0"/>
                      <a:pt x="0" y="241460"/>
                      <a:pt x="0" y="539316"/>
                    </a:cubicBezTo>
                    <a:cubicBezTo>
                      <a:pt x="0" y="837172"/>
                      <a:pt x="243751" y="1078632"/>
                      <a:pt x="544433" y="1078632"/>
                    </a:cubicBezTo>
                    <a:cubicBezTo>
                      <a:pt x="845114" y="1078632"/>
                      <a:pt x="1088865" y="837172"/>
                      <a:pt x="1088865" y="539316"/>
                    </a:cubicBezTo>
                    <a:cubicBezTo>
                      <a:pt x="1088865" y="241460"/>
                      <a:pt x="845114" y="0"/>
                      <a:pt x="544433" y="0"/>
                    </a:cubicBezTo>
                    <a:close/>
                  </a:path>
                </a:pathLst>
              </a:custGeom>
              <a:solidFill>
                <a:srgbClr val="FF313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102081" y="101122"/>
                <a:ext cx="884703" cy="876388"/>
              </a:xfrm>
              <a:prstGeom prst="rect">
                <a:avLst/>
              </a:prstGeom>
            </p:spPr>
            <p:txBody>
              <a:bodyPr anchor="ctr" rtlCol="false" tIns="143619" lIns="143619" bIns="143619" rIns="143619"/>
              <a:lstStyle/>
              <a:p>
                <a:pPr algn="ctr">
                  <a:lnSpc>
                    <a:spcPts val="2078"/>
                  </a:lnSpc>
                </a:pPr>
                <a:r>
                  <a:rPr lang="en-US" b="true" sz="1731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Planification Opérationnelle multi-acteur sous incertitude pour l’industrie 5.0</a:t>
                </a:r>
              </a:p>
            </p:txBody>
          </p:sp>
        </p:grpSp>
        <p:sp>
          <p:nvSpPr>
            <p:cNvPr name="AutoShape 49" id="49"/>
            <p:cNvSpPr/>
            <p:nvPr/>
          </p:nvSpPr>
          <p:spPr>
            <a:xfrm flipH="true">
              <a:off x="14801730" y="11445801"/>
              <a:ext cx="883491" cy="42119"/>
            </a:xfrm>
            <a:prstGeom prst="line">
              <a:avLst/>
            </a:prstGeom>
            <a:ln cap="flat" w="25400">
              <a:solidFill>
                <a:srgbClr val="929292"/>
              </a:solidFill>
              <a:prstDash val="solid"/>
              <a:headEnd type="triangle" len="med" w="lg"/>
              <a:tailEnd type="none" len="sm" w="sm"/>
            </a:ln>
          </p:spPr>
        </p:sp>
        <p:sp>
          <p:nvSpPr>
            <p:cNvPr name="AutoShape 50" id="50"/>
            <p:cNvSpPr/>
            <p:nvPr/>
          </p:nvSpPr>
          <p:spPr>
            <a:xfrm flipV="true">
              <a:off x="17699236" y="8000175"/>
              <a:ext cx="137035" cy="1078290"/>
            </a:xfrm>
            <a:prstGeom prst="line">
              <a:avLst/>
            </a:prstGeom>
            <a:ln cap="flat" w="25400">
              <a:solidFill>
                <a:srgbClr val="929292"/>
              </a:solidFill>
              <a:prstDash val="solid"/>
              <a:headEnd type="triangle" len="med" w="lg"/>
              <a:tailEnd type="none" len="sm" w="sm"/>
            </a:ln>
          </p:spPr>
        </p:sp>
        <p:sp>
          <p:nvSpPr>
            <p:cNvPr name="AutoShape 51" id="51"/>
            <p:cNvSpPr/>
            <p:nvPr/>
          </p:nvSpPr>
          <p:spPr>
            <a:xfrm flipH="true" flipV="true">
              <a:off x="7551830" y="10133654"/>
              <a:ext cx="966365" cy="170782"/>
            </a:xfrm>
            <a:prstGeom prst="line">
              <a:avLst/>
            </a:prstGeom>
            <a:ln cap="flat" w="25400">
              <a:solidFill>
                <a:srgbClr val="929292"/>
              </a:solidFill>
              <a:prstDash val="solid"/>
              <a:headEnd type="triangle" len="med" w="lg"/>
              <a:tailEnd type="none" len="sm" w="sm"/>
            </a:ln>
          </p:spPr>
        </p:sp>
        <p:grpSp>
          <p:nvGrpSpPr>
            <p:cNvPr name="Group 52" id="52"/>
            <p:cNvGrpSpPr/>
            <p:nvPr/>
          </p:nvGrpSpPr>
          <p:grpSpPr>
            <a:xfrm rot="0">
              <a:off x="0" y="4969708"/>
              <a:ext cx="2847273" cy="2720076"/>
              <a:chOff x="0" y="0"/>
              <a:chExt cx="850808" cy="8128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85080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50808">
                    <a:moveTo>
                      <a:pt x="425404" y="0"/>
                    </a:moveTo>
                    <a:cubicBezTo>
                      <a:pt x="190460" y="0"/>
                      <a:pt x="0" y="181951"/>
                      <a:pt x="0" y="406400"/>
                    </a:cubicBezTo>
                    <a:cubicBezTo>
                      <a:pt x="0" y="630849"/>
                      <a:pt x="190460" y="812800"/>
                      <a:pt x="425404" y="812800"/>
                    </a:cubicBezTo>
                    <a:cubicBezTo>
                      <a:pt x="660348" y="812800"/>
                      <a:pt x="850808" y="630849"/>
                      <a:pt x="850808" y="406400"/>
                    </a:cubicBezTo>
                    <a:cubicBezTo>
                      <a:pt x="850808" y="181951"/>
                      <a:pt x="660348" y="0"/>
                      <a:pt x="425404" y="0"/>
                    </a:cubicBezTo>
                    <a:close/>
                  </a:path>
                </a:pathLst>
              </a:custGeom>
              <a:solidFill>
                <a:srgbClr val="FFDDA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79763" y="76200"/>
                <a:ext cx="691282" cy="660400"/>
              </a:xfrm>
              <a:prstGeom prst="rect">
                <a:avLst/>
              </a:prstGeom>
            </p:spPr>
            <p:txBody>
              <a:bodyPr anchor="ctr" rtlCol="false" tIns="143619" lIns="143619" bIns="143619" rIns="143619"/>
              <a:lstStyle/>
              <a:p>
                <a:pPr algn="ctr" marL="0" indent="0" lvl="0">
                  <a:lnSpc>
                    <a:spcPts val="2078"/>
                  </a:lnSpc>
                  <a:spcBef>
                    <a:spcPct val="0"/>
                  </a:spcBef>
                </a:pPr>
                <a:r>
                  <a:rPr lang="en-US" sz="1731">
                    <a:solidFill>
                      <a:srgbClr val="000001"/>
                    </a:solidFill>
                    <a:latin typeface="Inter"/>
                    <a:ea typeface="Inter"/>
                    <a:cs typeface="Inter"/>
                    <a:sym typeface="Inter"/>
                  </a:rPr>
                  <a:t>Institut Polytechnique de Toulouse</a:t>
                </a:r>
              </a:p>
            </p:txBody>
          </p:sp>
        </p:grpSp>
        <p:sp>
          <p:nvSpPr>
            <p:cNvPr name="AutoShape 55" id="55"/>
            <p:cNvSpPr/>
            <p:nvPr/>
          </p:nvSpPr>
          <p:spPr>
            <a:xfrm>
              <a:off x="2831137" y="6535188"/>
              <a:ext cx="1636966" cy="70232"/>
            </a:xfrm>
            <a:prstGeom prst="line">
              <a:avLst/>
            </a:prstGeom>
            <a:ln cap="flat" w="25400">
              <a:solidFill>
                <a:srgbClr val="929292"/>
              </a:solidFill>
              <a:prstDash val="solid"/>
              <a:headEnd type="arrow" len="sm" w="med"/>
              <a:tailEnd type="none" len="sm" w="sm"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05872" y="2077371"/>
            <a:ext cx="3869179" cy="3832815"/>
            <a:chOff x="0" y="0"/>
            <a:chExt cx="1088865" cy="10786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8865" cy="1078632"/>
            </a:xfrm>
            <a:custGeom>
              <a:avLst/>
              <a:gdLst/>
              <a:ahLst/>
              <a:cxnLst/>
              <a:rect r="r" b="b" t="t" l="l"/>
              <a:pathLst>
                <a:path h="1078632" w="1088865">
                  <a:moveTo>
                    <a:pt x="544433" y="0"/>
                  </a:moveTo>
                  <a:cubicBezTo>
                    <a:pt x="243751" y="0"/>
                    <a:pt x="0" y="241460"/>
                    <a:pt x="0" y="539316"/>
                  </a:cubicBezTo>
                  <a:cubicBezTo>
                    <a:pt x="0" y="837172"/>
                    <a:pt x="243751" y="1078632"/>
                    <a:pt x="544433" y="1078632"/>
                  </a:cubicBezTo>
                  <a:cubicBezTo>
                    <a:pt x="845114" y="1078632"/>
                    <a:pt x="1088865" y="837172"/>
                    <a:pt x="1088865" y="539316"/>
                  </a:cubicBezTo>
                  <a:cubicBezTo>
                    <a:pt x="1088865" y="241460"/>
                    <a:pt x="845114" y="0"/>
                    <a:pt x="544433" y="0"/>
                  </a:cubicBezTo>
                  <a:close/>
                </a:path>
              </a:pathLst>
            </a:custGeom>
            <a:solidFill>
              <a:srgbClr val="FF3131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02081" y="101122"/>
              <a:ext cx="884703" cy="876388"/>
            </a:xfrm>
            <a:prstGeom prst="rect">
              <a:avLst/>
            </a:prstGeom>
          </p:spPr>
          <p:txBody>
            <a:bodyPr anchor="ctr" rtlCol="false" tIns="143619" lIns="143619" bIns="143619" rIns="143619"/>
            <a:lstStyle/>
            <a:p>
              <a:pPr algn="ctr">
                <a:lnSpc>
                  <a:spcPts val="3158"/>
                </a:lnSpc>
              </a:pPr>
              <a:r>
                <a:rPr lang="en-US" b="true" sz="263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Planification Opérationnelle multi-acteur sous incertitude pour l’industrie 5.0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677207"/>
            <a:ext cx="8944701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Contexte de la thèse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4369862"/>
            <a:ext cx="3109875" cy="3080647"/>
            <a:chOff x="0" y="0"/>
            <a:chExt cx="1088865" cy="10786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8865" cy="1078632"/>
            </a:xfrm>
            <a:custGeom>
              <a:avLst/>
              <a:gdLst/>
              <a:ahLst/>
              <a:cxnLst/>
              <a:rect r="r" b="b" t="t" l="l"/>
              <a:pathLst>
                <a:path h="1078632" w="1088865">
                  <a:moveTo>
                    <a:pt x="544433" y="0"/>
                  </a:moveTo>
                  <a:cubicBezTo>
                    <a:pt x="243751" y="0"/>
                    <a:pt x="0" y="241460"/>
                    <a:pt x="0" y="539316"/>
                  </a:cubicBezTo>
                  <a:cubicBezTo>
                    <a:pt x="0" y="837172"/>
                    <a:pt x="243751" y="1078632"/>
                    <a:pt x="544433" y="1078632"/>
                  </a:cubicBezTo>
                  <a:cubicBezTo>
                    <a:pt x="845114" y="1078632"/>
                    <a:pt x="1088865" y="837172"/>
                    <a:pt x="1088865" y="539316"/>
                  </a:cubicBezTo>
                  <a:cubicBezTo>
                    <a:pt x="1088865" y="241460"/>
                    <a:pt x="845114" y="0"/>
                    <a:pt x="544433" y="0"/>
                  </a:cubicBezTo>
                  <a:close/>
                </a:path>
              </a:pathLst>
            </a:custGeom>
            <a:solidFill>
              <a:srgbClr val="FF5757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2081" y="101122"/>
              <a:ext cx="884703" cy="876388"/>
            </a:xfrm>
            <a:prstGeom prst="rect">
              <a:avLst/>
            </a:prstGeom>
          </p:spPr>
          <p:txBody>
            <a:bodyPr anchor="ctr" rtlCol="false" tIns="143619" lIns="143619" bIns="143619" rIns="143619"/>
            <a:lstStyle/>
            <a:p>
              <a:pPr algn="ctr">
                <a:lnSpc>
                  <a:spcPts val="3158"/>
                </a:lnSpc>
              </a:pPr>
              <a:r>
                <a:rPr lang="en-US" sz="263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Domain d’aplication :</a:t>
              </a:r>
              <a:r>
                <a:rPr lang="en-US" b="true" sz="263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l’Industrie 5.0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73401" y="4369862"/>
            <a:ext cx="3483100" cy="3429715"/>
            <a:chOff x="0" y="0"/>
            <a:chExt cx="1219543" cy="12008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9543" cy="1200851"/>
            </a:xfrm>
            <a:custGeom>
              <a:avLst/>
              <a:gdLst/>
              <a:ahLst/>
              <a:cxnLst/>
              <a:rect r="r" b="b" t="t" l="l"/>
              <a:pathLst>
                <a:path h="1200851" w="1219543">
                  <a:moveTo>
                    <a:pt x="609772" y="0"/>
                  </a:moveTo>
                  <a:cubicBezTo>
                    <a:pt x="273004" y="0"/>
                    <a:pt x="0" y="268820"/>
                    <a:pt x="0" y="600426"/>
                  </a:cubicBezTo>
                  <a:cubicBezTo>
                    <a:pt x="0" y="932031"/>
                    <a:pt x="273004" y="1200851"/>
                    <a:pt x="609772" y="1200851"/>
                  </a:cubicBezTo>
                  <a:cubicBezTo>
                    <a:pt x="946539" y="1200851"/>
                    <a:pt x="1219543" y="932031"/>
                    <a:pt x="1219543" y="600426"/>
                  </a:cubicBezTo>
                  <a:cubicBezTo>
                    <a:pt x="1219543" y="268820"/>
                    <a:pt x="946539" y="0"/>
                    <a:pt x="609772" y="0"/>
                  </a:cubicBezTo>
                  <a:close/>
                </a:path>
              </a:pathLst>
            </a:custGeom>
            <a:solidFill>
              <a:srgbClr val="FF914D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14332" y="112580"/>
              <a:ext cx="990879" cy="975692"/>
            </a:xfrm>
            <a:prstGeom prst="rect">
              <a:avLst/>
            </a:prstGeom>
          </p:spPr>
          <p:txBody>
            <a:bodyPr anchor="ctr" rtlCol="false" tIns="143619" lIns="143619" bIns="143619" rIns="143619"/>
            <a:lstStyle/>
            <a:p>
              <a:pPr algn="ctr">
                <a:lnSpc>
                  <a:spcPts val="3158"/>
                </a:lnSpc>
              </a:pPr>
              <a:r>
                <a:rPr lang="en-US" sz="263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Objectif :</a:t>
              </a:r>
            </a:p>
            <a:p>
              <a:pPr algn="ctr">
                <a:lnSpc>
                  <a:spcPts val="3158"/>
                </a:lnSpc>
              </a:pPr>
              <a:r>
                <a:rPr lang="en-US" b="true" sz="263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Intégrer les facteurs humains dans le processus de décision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flipV="true">
            <a:off x="3910372" y="4374436"/>
            <a:ext cx="1433663" cy="732021"/>
          </a:xfrm>
          <a:prstGeom prst="line">
            <a:avLst/>
          </a:prstGeom>
          <a:ln cap="flat" w="47625">
            <a:solidFill>
              <a:srgbClr val="929292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 flipV="true">
            <a:off x="9139214" y="4362816"/>
            <a:ext cx="1121442" cy="778109"/>
          </a:xfrm>
          <a:prstGeom prst="line">
            <a:avLst/>
          </a:prstGeom>
          <a:ln cap="flat" w="47625">
            <a:solidFill>
              <a:srgbClr val="929292"/>
            </a:solidFill>
            <a:prstDash val="solid"/>
            <a:headEnd type="triangle" len="med" w="lg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3932286" y="6978783"/>
            <a:ext cx="3109875" cy="3080647"/>
            <a:chOff x="0" y="0"/>
            <a:chExt cx="1088865" cy="10786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8865" cy="1078632"/>
            </a:xfrm>
            <a:custGeom>
              <a:avLst/>
              <a:gdLst/>
              <a:ahLst/>
              <a:cxnLst/>
              <a:rect r="r" b="b" t="t" l="l"/>
              <a:pathLst>
                <a:path h="1078632" w="1088865">
                  <a:moveTo>
                    <a:pt x="544433" y="0"/>
                  </a:moveTo>
                  <a:cubicBezTo>
                    <a:pt x="243751" y="0"/>
                    <a:pt x="0" y="241460"/>
                    <a:pt x="0" y="539316"/>
                  </a:cubicBezTo>
                  <a:cubicBezTo>
                    <a:pt x="0" y="837172"/>
                    <a:pt x="243751" y="1078632"/>
                    <a:pt x="544433" y="1078632"/>
                  </a:cubicBezTo>
                  <a:cubicBezTo>
                    <a:pt x="845114" y="1078632"/>
                    <a:pt x="1088865" y="837172"/>
                    <a:pt x="1088865" y="539316"/>
                  </a:cubicBezTo>
                  <a:cubicBezTo>
                    <a:pt x="1088865" y="241460"/>
                    <a:pt x="845114" y="0"/>
                    <a:pt x="544433" y="0"/>
                  </a:cubicBezTo>
                  <a:close/>
                </a:path>
              </a:pathLst>
            </a:custGeom>
            <a:solidFill>
              <a:srgbClr val="FFBD59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02081" y="101122"/>
              <a:ext cx="884703" cy="876388"/>
            </a:xfrm>
            <a:prstGeom prst="rect">
              <a:avLst/>
            </a:prstGeom>
          </p:spPr>
          <p:txBody>
            <a:bodyPr anchor="ctr" rtlCol="false" tIns="143619" lIns="143619" bIns="143619" rIns="143619"/>
            <a:lstStyle/>
            <a:p>
              <a:pPr algn="ctr">
                <a:lnSpc>
                  <a:spcPts val="3158"/>
                </a:lnSpc>
              </a:pPr>
              <a:r>
                <a:rPr lang="en-US" sz="263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Méthode :</a:t>
              </a:r>
            </a:p>
            <a:p>
              <a:pPr algn="ctr">
                <a:lnSpc>
                  <a:spcPts val="3158"/>
                </a:lnSpc>
              </a:pPr>
              <a:r>
                <a:rPr lang="en-US" b="true" sz="263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Application basée sur la méthode AHP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flipH="true" flipV="true">
            <a:off x="13201368" y="6978783"/>
            <a:ext cx="991051" cy="687124"/>
          </a:xfrm>
          <a:prstGeom prst="line">
            <a:avLst/>
          </a:prstGeom>
          <a:ln cap="flat" w="47625">
            <a:solidFill>
              <a:srgbClr val="929292"/>
            </a:solidFill>
            <a:prstDash val="solid"/>
            <a:headEnd type="triangle" len="med" w="lg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7400264" y="0"/>
            <a:ext cx="887736" cy="887736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26"/>
                </a:lnSpc>
              </a:pPr>
              <a:r>
                <a:rPr lang="en-US" b="true" sz="29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90907" y="2175433"/>
            <a:ext cx="11706186" cy="7511469"/>
          </a:xfrm>
          <a:custGeom>
            <a:avLst/>
            <a:gdLst/>
            <a:ahLst/>
            <a:cxnLst/>
            <a:rect r="r" b="b" t="t" l="l"/>
            <a:pathLst>
              <a:path h="7511469" w="11706186">
                <a:moveTo>
                  <a:pt x="0" y="0"/>
                </a:moveTo>
                <a:lnTo>
                  <a:pt x="11706186" y="0"/>
                </a:lnTo>
                <a:lnTo>
                  <a:pt x="11706186" y="7511469"/>
                </a:lnTo>
                <a:lnTo>
                  <a:pt x="0" y="7511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77207"/>
            <a:ext cx="1590354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Contexte de la thèse : L’industrie 5.0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400264" y="0"/>
            <a:ext cx="887736" cy="88773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26"/>
                </a:lnSpc>
              </a:pPr>
              <a:r>
                <a:rPr lang="en-US" b="true" sz="29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2521" y="2640686"/>
            <a:ext cx="8395814" cy="7545738"/>
          </a:xfrm>
          <a:custGeom>
            <a:avLst/>
            <a:gdLst/>
            <a:ahLst/>
            <a:cxnLst/>
            <a:rect r="r" b="b" t="t" l="l"/>
            <a:pathLst>
              <a:path h="7545738" w="8395814">
                <a:moveTo>
                  <a:pt x="0" y="0"/>
                </a:moveTo>
                <a:lnTo>
                  <a:pt x="8395814" y="0"/>
                </a:lnTo>
                <a:lnTo>
                  <a:pt x="8395814" y="7545738"/>
                </a:lnTo>
                <a:lnTo>
                  <a:pt x="0" y="7545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84442" y="6564225"/>
            <a:ext cx="6174858" cy="2821271"/>
          </a:xfrm>
          <a:custGeom>
            <a:avLst/>
            <a:gdLst/>
            <a:ahLst/>
            <a:cxnLst/>
            <a:rect r="r" b="b" t="t" l="l"/>
            <a:pathLst>
              <a:path h="2821271" w="6174858">
                <a:moveTo>
                  <a:pt x="0" y="0"/>
                </a:moveTo>
                <a:lnTo>
                  <a:pt x="6174858" y="0"/>
                </a:lnTo>
                <a:lnTo>
                  <a:pt x="6174858" y="2821272"/>
                </a:lnTo>
                <a:lnTo>
                  <a:pt x="0" y="2821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5365" y="459461"/>
            <a:ext cx="12066077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Analytic Hierarchy Process,</a:t>
            </a:r>
          </a:p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la méthode AHP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084442" y="1672136"/>
            <a:ext cx="6759690" cy="4545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4714" indent="-307357" lvl="1">
              <a:lnSpc>
                <a:spcPts val="4527"/>
              </a:lnSpc>
              <a:buFont typeface="Arial"/>
              <a:buChar char="•"/>
            </a:pPr>
            <a:r>
              <a:rPr lang="en-US" b="true" sz="28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Aider les décideurs à produire une décision</a:t>
            </a:r>
          </a:p>
          <a:p>
            <a:pPr algn="l" marL="614714" indent="-307357" lvl="1">
              <a:lnSpc>
                <a:spcPts val="4527"/>
              </a:lnSpc>
              <a:buFont typeface="Arial"/>
              <a:buChar char="•"/>
            </a:pPr>
            <a:r>
              <a:rPr lang="en-US" b="true" sz="28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Fonctionne sur la décomposition hiérarchique d’un problème complexe</a:t>
            </a:r>
          </a:p>
          <a:p>
            <a:pPr algn="l" marL="614714" indent="-307357" lvl="1">
              <a:lnSpc>
                <a:spcPts val="4527"/>
              </a:lnSpc>
              <a:buFont typeface="Arial"/>
              <a:buChar char="•"/>
            </a:pPr>
            <a:r>
              <a:rPr lang="en-US" b="true" sz="28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Evaluation par comparaison par paires des critères et alternatives via une note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400264" y="0"/>
            <a:ext cx="887736" cy="88773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26"/>
                </a:lnSpc>
              </a:pPr>
              <a:r>
                <a:rPr lang="en-US" b="true" sz="29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59747" y="7737287"/>
            <a:ext cx="2057297" cy="1521013"/>
          </a:xfrm>
          <a:custGeom>
            <a:avLst/>
            <a:gdLst/>
            <a:ahLst/>
            <a:cxnLst/>
            <a:rect r="r" b="b" t="t" l="l"/>
            <a:pathLst>
              <a:path h="1521013" w="2057297">
                <a:moveTo>
                  <a:pt x="0" y="0"/>
                </a:moveTo>
                <a:lnTo>
                  <a:pt x="2057297" y="0"/>
                </a:lnTo>
                <a:lnTo>
                  <a:pt x="2057297" y="1521013"/>
                </a:lnTo>
                <a:lnTo>
                  <a:pt x="0" y="1521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59922"/>
            <a:ext cx="7246793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4"/>
              </a:lnSpc>
            </a:pPr>
            <a:r>
              <a:rPr lang="en-US" sz="7995" b="true">
                <a:solidFill>
                  <a:srgbClr val="9976FF"/>
                </a:solidFill>
                <a:latin typeface="Arimo Bold"/>
                <a:ea typeface="Arimo Bold"/>
                <a:cs typeface="Arimo Bold"/>
                <a:sym typeface="Arimo Bold"/>
              </a:rPr>
              <a:t>Les objectifs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59870" y="3895725"/>
            <a:ext cx="10968261" cy="239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Développer une interface permettant d’intégrer un modèle d’aide à la décision basé sur la méthode AHP.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36593" y="7989159"/>
            <a:ext cx="3116846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Modèle préexistant en langage Julia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400264" y="0"/>
            <a:ext cx="887736" cy="88773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26"/>
                </a:lnSpc>
              </a:pPr>
              <a:r>
                <a:rPr lang="en-US" b="true" sz="29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85215"/>
            <a:ext cx="18288000" cy="7348397"/>
            <a:chOff x="0" y="0"/>
            <a:chExt cx="24384000" cy="979786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8213080"/>
              <a:ext cx="24384000" cy="1584784"/>
              <a:chOff x="0" y="0"/>
              <a:chExt cx="9570429" cy="62200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9570429" cy="622009"/>
              </a:xfrm>
              <a:custGeom>
                <a:avLst/>
                <a:gdLst/>
                <a:ahLst/>
                <a:cxnLst/>
                <a:rect r="r" b="b" t="t" l="l"/>
                <a:pathLst>
                  <a:path h="622009" w="9570429">
                    <a:moveTo>
                      <a:pt x="0" y="0"/>
                    </a:moveTo>
                    <a:lnTo>
                      <a:pt x="9570429" y="0"/>
                    </a:lnTo>
                    <a:lnTo>
                      <a:pt x="9570429" y="622009"/>
                    </a:lnTo>
                    <a:lnTo>
                      <a:pt x="0" y="622009"/>
                    </a:ln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9525"/>
                <a:ext cx="9570429" cy="63153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06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170155"/>
              <a:ext cx="24384000" cy="1772195"/>
              <a:chOff x="0" y="0"/>
              <a:chExt cx="9570429" cy="69556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570429" cy="695565"/>
              </a:xfrm>
              <a:custGeom>
                <a:avLst/>
                <a:gdLst/>
                <a:ahLst/>
                <a:cxnLst/>
                <a:rect r="r" b="b" t="t" l="l"/>
                <a:pathLst>
                  <a:path h="695565" w="9570429">
                    <a:moveTo>
                      <a:pt x="0" y="0"/>
                    </a:moveTo>
                    <a:lnTo>
                      <a:pt x="9570429" y="0"/>
                    </a:lnTo>
                    <a:lnTo>
                      <a:pt x="9570429" y="695565"/>
                    </a:lnTo>
                    <a:lnTo>
                      <a:pt x="0" y="695565"/>
                    </a:ln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9525"/>
                <a:ext cx="9570429" cy="7050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06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2896586"/>
              <a:ext cx="24384000" cy="1744742"/>
              <a:chOff x="0" y="0"/>
              <a:chExt cx="9570429" cy="68479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570429" cy="684790"/>
              </a:xfrm>
              <a:custGeom>
                <a:avLst/>
                <a:gdLst/>
                <a:ahLst/>
                <a:cxnLst/>
                <a:rect r="r" b="b" t="t" l="l"/>
                <a:pathLst>
                  <a:path h="684790" w="9570429">
                    <a:moveTo>
                      <a:pt x="0" y="0"/>
                    </a:moveTo>
                    <a:lnTo>
                      <a:pt x="9570429" y="0"/>
                    </a:lnTo>
                    <a:lnTo>
                      <a:pt x="9570429" y="684790"/>
                    </a:lnTo>
                    <a:lnTo>
                      <a:pt x="0" y="684790"/>
                    </a:ln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"/>
                <a:ext cx="9570429" cy="6943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06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4600153"/>
              <a:ext cx="24384000" cy="3671002"/>
              <a:chOff x="0" y="0"/>
              <a:chExt cx="9570429" cy="144082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570429" cy="1440825"/>
              </a:xfrm>
              <a:custGeom>
                <a:avLst/>
                <a:gdLst/>
                <a:ahLst/>
                <a:cxnLst/>
                <a:rect r="r" b="b" t="t" l="l"/>
                <a:pathLst>
                  <a:path h="1440825" w="9570429">
                    <a:moveTo>
                      <a:pt x="0" y="0"/>
                    </a:moveTo>
                    <a:lnTo>
                      <a:pt x="9570429" y="0"/>
                    </a:lnTo>
                    <a:lnTo>
                      <a:pt x="9570429" y="1440825"/>
                    </a:lnTo>
                    <a:lnTo>
                      <a:pt x="0" y="1440825"/>
                    </a:ln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9570429" cy="1450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06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410653" y="5805615"/>
              <a:ext cx="788752" cy="788752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C1FF72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069"/>
                  </a:lnSpc>
                </a:pPr>
              </a:p>
            </p:txBody>
          </p:sp>
        </p:grpSp>
        <p:sp>
          <p:nvSpPr>
            <p:cNvPr name="AutoShape 18" id="18"/>
            <p:cNvSpPr/>
            <p:nvPr/>
          </p:nvSpPr>
          <p:spPr>
            <a:xfrm>
              <a:off x="2199405" y="6199991"/>
              <a:ext cx="438367" cy="0"/>
            </a:xfrm>
            <a:prstGeom prst="line">
              <a:avLst/>
            </a:prstGeom>
            <a:ln cap="rnd" w="32354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19" id="19"/>
            <p:cNvGrpSpPr/>
            <p:nvPr/>
          </p:nvGrpSpPr>
          <p:grpSpPr>
            <a:xfrm rot="0">
              <a:off x="2637773" y="5460679"/>
              <a:ext cx="3004030" cy="1478623"/>
              <a:chOff x="0" y="0"/>
              <a:chExt cx="1260108" cy="62024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60108" cy="620242"/>
              </a:xfrm>
              <a:custGeom>
                <a:avLst/>
                <a:gdLst/>
                <a:ahLst/>
                <a:cxnLst/>
                <a:rect r="r" b="b" t="t" l="l"/>
                <a:pathLst>
                  <a:path h="620242" w="1260108">
                    <a:moveTo>
                      <a:pt x="28451" y="0"/>
                    </a:moveTo>
                    <a:lnTo>
                      <a:pt x="1231657" y="0"/>
                    </a:lnTo>
                    <a:cubicBezTo>
                      <a:pt x="1247370" y="0"/>
                      <a:pt x="1260108" y="12738"/>
                      <a:pt x="1260108" y="28451"/>
                    </a:cubicBezTo>
                    <a:lnTo>
                      <a:pt x="1260108" y="591791"/>
                    </a:lnTo>
                    <a:cubicBezTo>
                      <a:pt x="1260108" y="607504"/>
                      <a:pt x="1247370" y="620242"/>
                      <a:pt x="1231657" y="620242"/>
                    </a:cubicBezTo>
                    <a:lnTo>
                      <a:pt x="28451" y="620242"/>
                    </a:lnTo>
                    <a:cubicBezTo>
                      <a:pt x="12738" y="620242"/>
                      <a:pt x="0" y="607504"/>
                      <a:pt x="0" y="591791"/>
                    </a:cubicBezTo>
                    <a:lnTo>
                      <a:pt x="0" y="28451"/>
                    </a:lnTo>
                    <a:cubicBezTo>
                      <a:pt x="0" y="12738"/>
                      <a:pt x="12738" y="0"/>
                      <a:pt x="28451" y="0"/>
                    </a:cubicBezTo>
                    <a:close/>
                  </a:path>
                </a:pathLst>
              </a:custGeom>
              <a:solidFill>
                <a:srgbClr val="A2E0FF"/>
              </a:solidFill>
              <a:ln w="19050" cap="sq">
                <a:solidFill>
                  <a:srgbClr val="2795C4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9050"/>
                <a:ext cx="1260108" cy="639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04"/>
                  </a:lnSpc>
                </a:pPr>
                <a:r>
                  <a:rPr lang="en-US" sz="1146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Première réunion :</a:t>
                </a:r>
              </a:p>
              <a:p>
                <a:pPr algn="ctr">
                  <a:lnSpc>
                    <a:spcPts val="1604"/>
                  </a:lnSpc>
                </a:pPr>
              </a:p>
              <a:p>
                <a:pPr algn="ctr">
                  <a:lnSpc>
                    <a:spcPts val="1604"/>
                  </a:lnSpc>
                </a:pPr>
                <a:r>
                  <a:rPr lang="en-US" sz="1146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décideurs, alternatives, critères,</a:t>
                </a:r>
              </a:p>
              <a:p>
                <a:pPr algn="ctr">
                  <a:lnSpc>
                    <a:spcPts val="1604"/>
                  </a:lnSpc>
                </a:pPr>
                <a:r>
                  <a:rPr lang="en-US" sz="1146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KPIs pour chaque décideur pour chaque critère</a:t>
                </a: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-5400000">
              <a:off x="101490" y="1898561"/>
              <a:ext cx="1212189" cy="460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2"/>
                </a:lnSpc>
                <a:spcBef>
                  <a:spcPct val="0"/>
                </a:spcBef>
              </a:pPr>
              <a:r>
                <a:rPr lang="en-US" b="true" sz="210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IHM 1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-5400000">
              <a:off x="133518" y="3538796"/>
              <a:ext cx="1148131" cy="460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2"/>
                </a:lnSpc>
              </a:pPr>
              <a:r>
                <a:rPr lang="en-US" b="true" sz="210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IHM 2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-5400000">
              <a:off x="-519448" y="5943696"/>
              <a:ext cx="2454063" cy="983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1"/>
                </a:lnSpc>
                <a:spcBef>
                  <a:spcPct val="0"/>
                </a:spcBef>
              </a:pPr>
              <a:r>
                <a:rPr lang="en-US" b="true" sz="2165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Parametrage Interface</a:t>
              </a:r>
            </a:p>
          </p:txBody>
        </p:sp>
        <p:sp>
          <p:nvSpPr>
            <p:cNvPr name="AutoShape 25" id="25"/>
            <p:cNvSpPr/>
            <p:nvPr/>
          </p:nvSpPr>
          <p:spPr>
            <a:xfrm>
              <a:off x="5641802" y="6208080"/>
              <a:ext cx="438367" cy="0"/>
            </a:xfrm>
            <a:prstGeom prst="line">
              <a:avLst/>
            </a:prstGeom>
            <a:ln cap="rnd" w="32354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26" id="26"/>
            <p:cNvGrpSpPr/>
            <p:nvPr/>
          </p:nvGrpSpPr>
          <p:grpSpPr>
            <a:xfrm rot="0">
              <a:off x="6080170" y="5805615"/>
              <a:ext cx="788752" cy="788752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59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06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5826363" y="6657648"/>
              <a:ext cx="1459604" cy="608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4"/>
                </a:lnSpc>
                <a:spcBef>
                  <a:spcPct val="0"/>
                </a:spcBef>
              </a:pPr>
              <a:r>
                <a:rPr lang="en-US" sz="130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Paramétrage de la décision</a:t>
              </a:r>
            </a:p>
          </p:txBody>
        </p:sp>
        <p:sp>
          <p:nvSpPr>
            <p:cNvPr name="AutoShape 30" id="30"/>
            <p:cNvSpPr/>
            <p:nvPr/>
          </p:nvSpPr>
          <p:spPr>
            <a:xfrm flipV="true">
              <a:off x="6868922" y="5352504"/>
              <a:ext cx="1087118" cy="847487"/>
            </a:xfrm>
            <a:prstGeom prst="line">
              <a:avLst/>
            </a:prstGeom>
            <a:ln cap="flat" w="32354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31" id="31"/>
            <p:cNvGrpSpPr/>
            <p:nvPr/>
          </p:nvGrpSpPr>
          <p:grpSpPr>
            <a:xfrm rot="0">
              <a:off x="7956040" y="4717360"/>
              <a:ext cx="1907474" cy="1270288"/>
              <a:chOff x="0" y="0"/>
              <a:chExt cx="800133" cy="532851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00133" cy="532851"/>
              </a:xfrm>
              <a:custGeom>
                <a:avLst/>
                <a:gdLst/>
                <a:ahLst/>
                <a:cxnLst/>
                <a:rect r="r" b="b" t="t" l="l"/>
                <a:pathLst>
                  <a:path h="532851" w="800133">
                    <a:moveTo>
                      <a:pt x="44806" y="0"/>
                    </a:moveTo>
                    <a:lnTo>
                      <a:pt x="755327" y="0"/>
                    </a:lnTo>
                    <a:cubicBezTo>
                      <a:pt x="780072" y="0"/>
                      <a:pt x="800133" y="20060"/>
                      <a:pt x="800133" y="44806"/>
                    </a:cubicBezTo>
                    <a:lnTo>
                      <a:pt x="800133" y="488045"/>
                    </a:lnTo>
                    <a:cubicBezTo>
                      <a:pt x="800133" y="499928"/>
                      <a:pt x="795412" y="511325"/>
                      <a:pt x="787009" y="519728"/>
                    </a:cubicBezTo>
                    <a:cubicBezTo>
                      <a:pt x="778607" y="528130"/>
                      <a:pt x="767210" y="532851"/>
                      <a:pt x="755327" y="532851"/>
                    </a:cubicBezTo>
                    <a:lnTo>
                      <a:pt x="44806" y="532851"/>
                    </a:lnTo>
                    <a:cubicBezTo>
                      <a:pt x="32923" y="532851"/>
                      <a:pt x="21526" y="528130"/>
                      <a:pt x="13123" y="519728"/>
                    </a:cubicBezTo>
                    <a:cubicBezTo>
                      <a:pt x="4721" y="511325"/>
                      <a:pt x="0" y="499928"/>
                      <a:pt x="0" y="488045"/>
                    </a:cubicBezTo>
                    <a:lnTo>
                      <a:pt x="0" y="44806"/>
                    </a:lnTo>
                    <a:cubicBezTo>
                      <a:pt x="0" y="32923"/>
                      <a:pt x="4721" y="21526"/>
                      <a:pt x="13123" y="13123"/>
                    </a:cubicBezTo>
                    <a:cubicBezTo>
                      <a:pt x="21526" y="4721"/>
                      <a:pt x="32923" y="0"/>
                      <a:pt x="44806" y="0"/>
                    </a:cubicBezTo>
                    <a:close/>
                  </a:path>
                </a:pathLst>
              </a:custGeom>
              <a:solidFill>
                <a:srgbClr val="FF5757"/>
              </a:solidFill>
              <a:ln w="19050" cap="sq">
                <a:solidFill>
                  <a:srgbClr val="2795C4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19050"/>
                <a:ext cx="800133" cy="5519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04"/>
                  </a:lnSpc>
                </a:pPr>
                <a:r>
                  <a:rPr lang="en-US" sz="1146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Paramétrage gAHP et IHM1&amp;2</a:t>
                </a:r>
              </a:p>
            </p:txBody>
          </p:sp>
        </p:grpSp>
        <p:sp>
          <p:nvSpPr>
            <p:cNvPr name="AutoShape 34" id="34"/>
            <p:cNvSpPr/>
            <p:nvPr/>
          </p:nvSpPr>
          <p:spPr>
            <a:xfrm>
              <a:off x="6868922" y="6199991"/>
              <a:ext cx="1051372" cy="854593"/>
            </a:xfrm>
            <a:prstGeom prst="line">
              <a:avLst/>
            </a:prstGeom>
            <a:ln cap="flat" w="32354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35" id="35"/>
            <p:cNvGrpSpPr/>
            <p:nvPr/>
          </p:nvGrpSpPr>
          <p:grpSpPr>
            <a:xfrm rot="0">
              <a:off x="7920293" y="6594367"/>
              <a:ext cx="1978966" cy="920434"/>
              <a:chOff x="0" y="0"/>
              <a:chExt cx="830122" cy="386097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30122" cy="386097"/>
              </a:xfrm>
              <a:custGeom>
                <a:avLst/>
                <a:gdLst/>
                <a:ahLst/>
                <a:cxnLst/>
                <a:rect r="r" b="b" t="t" l="l"/>
                <a:pathLst>
                  <a:path h="386097" w="830122">
                    <a:moveTo>
                      <a:pt x="43187" y="0"/>
                    </a:moveTo>
                    <a:lnTo>
                      <a:pt x="786935" y="0"/>
                    </a:lnTo>
                    <a:cubicBezTo>
                      <a:pt x="798389" y="0"/>
                      <a:pt x="809374" y="4550"/>
                      <a:pt x="817473" y="12649"/>
                    </a:cubicBezTo>
                    <a:cubicBezTo>
                      <a:pt x="825572" y="20749"/>
                      <a:pt x="830122" y="31733"/>
                      <a:pt x="830122" y="43187"/>
                    </a:cubicBezTo>
                    <a:lnTo>
                      <a:pt x="830122" y="342909"/>
                    </a:lnTo>
                    <a:cubicBezTo>
                      <a:pt x="830122" y="366761"/>
                      <a:pt x="810786" y="386097"/>
                      <a:pt x="786935" y="386097"/>
                    </a:cubicBezTo>
                    <a:lnTo>
                      <a:pt x="43187" y="386097"/>
                    </a:lnTo>
                    <a:cubicBezTo>
                      <a:pt x="19336" y="386097"/>
                      <a:pt x="0" y="366761"/>
                      <a:pt x="0" y="342909"/>
                    </a:cubicBezTo>
                    <a:lnTo>
                      <a:pt x="0" y="43187"/>
                    </a:lnTo>
                    <a:cubicBezTo>
                      <a:pt x="0" y="19336"/>
                      <a:pt x="19336" y="0"/>
                      <a:pt x="43187" y="0"/>
                    </a:cubicBezTo>
                    <a:close/>
                  </a:path>
                </a:pathLst>
              </a:custGeom>
              <a:solidFill>
                <a:srgbClr val="A2E0FF"/>
              </a:solidFill>
              <a:ln w="19050" cap="sq">
                <a:solidFill>
                  <a:srgbClr val="2795C4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19050"/>
                <a:ext cx="830122" cy="4051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04"/>
                  </a:lnSpc>
                </a:pPr>
                <a:r>
                  <a:rPr lang="en-US" sz="1146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Simulation</a:t>
                </a:r>
              </a:p>
            </p:txBody>
          </p:sp>
        </p:grpSp>
        <p:sp>
          <p:nvSpPr>
            <p:cNvPr name="AutoShape 38" id="38"/>
            <p:cNvSpPr/>
            <p:nvPr/>
          </p:nvSpPr>
          <p:spPr>
            <a:xfrm>
              <a:off x="9899260" y="7070761"/>
              <a:ext cx="438367" cy="0"/>
            </a:xfrm>
            <a:prstGeom prst="line">
              <a:avLst/>
            </a:prstGeom>
            <a:ln cap="rnd" w="32354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39" id="39"/>
            <p:cNvGrpSpPr/>
            <p:nvPr/>
          </p:nvGrpSpPr>
          <p:grpSpPr>
            <a:xfrm rot="0">
              <a:off x="10337627" y="6610544"/>
              <a:ext cx="1978966" cy="920434"/>
              <a:chOff x="0" y="0"/>
              <a:chExt cx="830122" cy="386097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30122" cy="386097"/>
              </a:xfrm>
              <a:custGeom>
                <a:avLst/>
                <a:gdLst/>
                <a:ahLst/>
                <a:cxnLst/>
                <a:rect r="r" b="b" t="t" l="l"/>
                <a:pathLst>
                  <a:path h="386097" w="830122">
                    <a:moveTo>
                      <a:pt x="43187" y="0"/>
                    </a:moveTo>
                    <a:lnTo>
                      <a:pt x="786935" y="0"/>
                    </a:lnTo>
                    <a:cubicBezTo>
                      <a:pt x="798389" y="0"/>
                      <a:pt x="809374" y="4550"/>
                      <a:pt x="817473" y="12649"/>
                    </a:cubicBezTo>
                    <a:cubicBezTo>
                      <a:pt x="825572" y="20749"/>
                      <a:pt x="830122" y="31733"/>
                      <a:pt x="830122" y="43187"/>
                    </a:cubicBezTo>
                    <a:lnTo>
                      <a:pt x="830122" y="342909"/>
                    </a:lnTo>
                    <a:cubicBezTo>
                      <a:pt x="830122" y="366761"/>
                      <a:pt x="810786" y="386097"/>
                      <a:pt x="786935" y="386097"/>
                    </a:cubicBezTo>
                    <a:lnTo>
                      <a:pt x="43187" y="386097"/>
                    </a:lnTo>
                    <a:cubicBezTo>
                      <a:pt x="19336" y="386097"/>
                      <a:pt x="0" y="366761"/>
                      <a:pt x="0" y="342909"/>
                    </a:cubicBezTo>
                    <a:lnTo>
                      <a:pt x="0" y="43187"/>
                    </a:lnTo>
                    <a:cubicBezTo>
                      <a:pt x="0" y="19336"/>
                      <a:pt x="19336" y="0"/>
                      <a:pt x="43187" y="0"/>
                    </a:cubicBezTo>
                    <a:close/>
                  </a:path>
                </a:pathLst>
              </a:custGeom>
              <a:solidFill>
                <a:srgbClr val="A2E0FF"/>
              </a:solidFill>
              <a:ln w="19050" cap="sq">
                <a:solidFill>
                  <a:srgbClr val="2795C4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19050"/>
                <a:ext cx="830122" cy="4051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04"/>
                  </a:lnSpc>
                </a:pPr>
                <a:r>
                  <a:rPr lang="en-US" sz="1146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Mesure des KPIs</a:t>
                </a:r>
              </a:p>
            </p:txBody>
          </p:sp>
        </p:grpSp>
        <p:sp>
          <p:nvSpPr>
            <p:cNvPr name="AutoShape 42" id="42"/>
            <p:cNvSpPr/>
            <p:nvPr/>
          </p:nvSpPr>
          <p:spPr>
            <a:xfrm>
              <a:off x="12316594" y="7086938"/>
              <a:ext cx="438367" cy="0"/>
            </a:xfrm>
            <a:prstGeom prst="line">
              <a:avLst/>
            </a:prstGeom>
            <a:ln cap="rnd" w="32354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43" id="43"/>
            <p:cNvGrpSpPr/>
            <p:nvPr/>
          </p:nvGrpSpPr>
          <p:grpSpPr>
            <a:xfrm rot="0">
              <a:off x="12756437" y="6695748"/>
              <a:ext cx="788752" cy="788752"/>
              <a:chOff x="0" y="0"/>
              <a:chExt cx="812800" cy="812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E59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069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12502630" y="7547781"/>
              <a:ext cx="1459604" cy="6086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4"/>
                </a:lnSpc>
                <a:spcBef>
                  <a:spcPct val="0"/>
                </a:spcBef>
              </a:pPr>
              <a:r>
                <a:rPr lang="en-US" sz="130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Paramétrage de la décision</a:t>
              </a:r>
            </a:p>
          </p:txBody>
        </p:sp>
        <p:grpSp>
          <p:nvGrpSpPr>
            <p:cNvPr name="Group 47" id="47"/>
            <p:cNvGrpSpPr/>
            <p:nvPr/>
          </p:nvGrpSpPr>
          <p:grpSpPr>
            <a:xfrm rot="0">
              <a:off x="10526899" y="1563466"/>
              <a:ext cx="1467459" cy="985573"/>
              <a:chOff x="0" y="0"/>
              <a:chExt cx="615559" cy="413421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615559" cy="413421"/>
              </a:xfrm>
              <a:custGeom>
                <a:avLst/>
                <a:gdLst/>
                <a:ahLst/>
                <a:cxnLst/>
                <a:rect r="r" b="b" t="t" l="l"/>
                <a:pathLst>
                  <a:path h="413421" w="615559">
                    <a:moveTo>
                      <a:pt x="58241" y="0"/>
                    </a:moveTo>
                    <a:lnTo>
                      <a:pt x="557318" y="0"/>
                    </a:lnTo>
                    <a:cubicBezTo>
                      <a:pt x="589483" y="0"/>
                      <a:pt x="615559" y="26075"/>
                      <a:pt x="615559" y="58241"/>
                    </a:cubicBezTo>
                    <a:lnTo>
                      <a:pt x="615559" y="355180"/>
                    </a:lnTo>
                    <a:cubicBezTo>
                      <a:pt x="615559" y="370626"/>
                      <a:pt x="609423" y="385440"/>
                      <a:pt x="598500" y="396362"/>
                    </a:cubicBezTo>
                    <a:cubicBezTo>
                      <a:pt x="587578" y="407285"/>
                      <a:pt x="572764" y="413421"/>
                      <a:pt x="557318" y="413421"/>
                    </a:cubicBezTo>
                    <a:lnTo>
                      <a:pt x="58241" y="413421"/>
                    </a:lnTo>
                    <a:cubicBezTo>
                      <a:pt x="42795" y="413421"/>
                      <a:pt x="27981" y="407285"/>
                      <a:pt x="17058" y="396362"/>
                    </a:cubicBezTo>
                    <a:cubicBezTo>
                      <a:pt x="6136" y="385440"/>
                      <a:pt x="0" y="370626"/>
                      <a:pt x="0" y="355180"/>
                    </a:cubicBezTo>
                    <a:lnTo>
                      <a:pt x="0" y="58241"/>
                    </a:lnTo>
                    <a:cubicBezTo>
                      <a:pt x="0" y="42795"/>
                      <a:pt x="6136" y="27981"/>
                      <a:pt x="17058" y="17058"/>
                    </a:cubicBezTo>
                    <a:cubicBezTo>
                      <a:pt x="27981" y="6136"/>
                      <a:pt x="42795" y="0"/>
                      <a:pt x="58241" y="0"/>
                    </a:cubicBezTo>
                    <a:close/>
                  </a:path>
                </a:pathLst>
              </a:custGeom>
              <a:solidFill>
                <a:srgbClr val="FF5757"/>
              </a:solidFill>
              <a:ln w="19050" cap="sq">
                <a:solidFill>
                  <a:srgbClr val="2795C4"/>
                </a:solidFill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19050"/>
                <a:ext cx="615559" cy="4324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04"/>
                  </a:lnSpc>
                </a:pPr>
                <a:r>
                  <a:rPr lang="en-US" sz="1146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Connexion serveur local</a:t>
                </a:r>
              </a:p>
            </p:txBody>
          </p:sp>
        </p:grpSp>
        <p:sp>
          <p:nvSpPr>
            <p:cNvPr name="AutoShape 50" id="50"/>
            <p:cNvSpPr/>
            <p:nvPr/>
          </p:nvSpPr>
          <p:spPr>
            <a:xfrm flipV="true">
              <a:off x="9862843" y="2056252"/>
              <a:ext cx="664055" cy="3306072"/>
            </a:xfrm>
            <a:prstGeom prst="line">
              <a:avLst/>
            </a:prstGeom>
            <a:ln cap="flat" w="32354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51" id="51"/>
            <p:cNvGrpSpPr/>
            <p:nvPr/>
          </p:nvGrpSpPr>
          <p:grpSpPr>
            <a:xfrm rot="0">
              <a:off x="12431137" y="1563466"/>
              <a:ext cx="1558050" cy="985573"/>
              <a:chOff x="0" y="0"/>
              <a:chExt cx="653559" cy="413421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653559" cy="413421"/>
              </a:xfrm>
              <a:custGeom>
                <a:avLst/>
                <a:gdLst/>
                <a:ahLst/>
                <a:cxnLst/>
                <a:rect r="r" b="b" t="t" l="l"/>
                <a:pathLst>
                  <a:path h="413421" w="653559">
                    <a:moveTo>
                      <a:pt x="54855" y="0"/>
                    </a:moveTo>
                    <a:lnTo>
                      <a:pt x="598705" y="0"/>
                    </a:lnTo>
                    <a:cubicBezTo>
                      <a:pt x="629000" y="0"/>
                      <a:pt x="653559" y="24559"/>
                      <a:pt x="653559" y="54855"/>
                    </a:cubicBezTo>
                    <a:lnTo>
                      <a:pt x="653559" y="358566"/>
                    </a:lnTo>
                    <a:cubicBezTo>
                      <a:pt x="653559" y="388861"/>
                      <a:pt x="629000" y="413421"/>
                      <a:pt x="598705" y="413421"/>
                    </a:cubicBezTo>
                    <a:lnTo>
                      <a:pt x="54855" y="413421"/>
                    </a:lnTo>
                    <a:cubicBezTo>
                      <a:pt x="24559" y="413421"/>
                      <a:pt x="0" y="388861"/>
                      <a:pt x="0" y="358566"/>
                    </a:cubicBezTo>
                    <a:lnTo>
                      <a:pt x="0" y="54855"/>
                    </a:lnTo>
                    <a:cubicBezTo>
                      <a:pt x="0" y="24559"/>
                      <a:pt x="24559" y="0"/>
                      <a:pt x="54855" y="0"/>
                    </a:cubicBezTo>
                    <a:close/>
                  </a:path>
                </a:pathLst>
              </a:custGeom>
              <a:solidFill>
                <a:srgbClr val="FF5757"/>
              </a:solidFill>
              <a:ln w="19050" cap="sq">
                <a:solidFill>
                  <a:srgbClr val="2795C4"/>
                </a:solidFill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19050"/>
                <a:ext cx="653559" cy="4324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04"/>
                  </a:lnSpc>
                </a:pPr>
                <a:r>
                  <a:rPr lang="en-US" sz="1146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Positionnement critères</a:t>
                </a: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14427555" y="1579643"/>
              <a:ext cx="1118036" cy="985573"/>
              <a:chOff x="0" y="0"/>
              <a:chExt cx="468985" cy="413421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468985" cy="413421"/>
              </a:xfrm>
              <a:custGeom>
                <a:avLst/>
                <a:gdLst/>
                <a:ahLst/>
                <a:cxnLst/>
                <a:rect r="r" b="b" t="t" l="l"/>
                <a:pathLst>
                  <a:path h="413421" w="468985">
                    <a:moveTo>
                      <a:pt x="76443" y="0"/>
                    </a:moveTo>
                    <a:lnTo>
                      <a:pt x="392542" y="0"/>
                    </a:lnTo>
                    <a:cubicBezTo>
                      <a:pt x="412816" y="0"/>
                      <a:pt x="432260" y="8054"/>
                      <a:pt x="446595" y="22390"/>
                    </a:cubicBezTo>
                    <a:cubicBezTo>
                      <a:pt x="460931" y="36726"/>
                      <a:pt x="468985" y="56169"/>
                      <a:pt x="468985" y="76443"/>
                    </a:cubicBezTo>
                    <a:lnTo>
                      <a:pt x="468985" y="336977"/>
                    </a:lnTo>
                    <a:cubicBezTo>
                      <a:pt x="468985" y="357251"/>
                      <a:pt x="460931" y="376695"/>
                      <a:pt x="446595" y="391031"/>
                    </a:cubicBezTo>
                    <a:cubicBezTo>
                      <a:pt x="432260" y="405367"/>
                      <a:pt x="412816" y="413421"/>
                      <a:pt x="392542" y="413421"/>
                    </a:cubicBezTo>
                    <a:lnTo>
                      <a:pt x="76443" y="413421"/>
                    </a:lnTo>
                    <a:cubicBezTo>
                      <a:pt x="56169" y="413421"/>
                      <a:pt x="36726" y="405367"/>
                      <a:pt x="22390" y="391031"/>
                    </a:cubicBezTo>
                    <a:cubicBezTo>
                      <a:pt x="8054" y="376695"/>
                      <a:pt x="0" y="357251"/>
                      <a:pt x="0" y="336977"/>
                    </a:cubicBezTo>
                    <a:lnTo>
                      <a:pt x="0" y="76443"/>
                    </a:lnTo>
                    <a:cubicBezTo>
                      <a:pt x="0" y="56169"/>
                      <a:pt x="8054" y="36726"/>
                      <a:pt x="22390" y="22390"/>
                    </a:cubicBezTo>
                    <a:cubicBezTo>
                      <a:pt x="36726" y="8054"/>
                      <a:pt x="56169" y="0"/>
                      <a:pt x="76443" y="0"/>
                    </a:cubicBezTo>
                    <a:close/>
                  </a:path>
                </a:pathLst>
              </a:custGeom>
              <a:solidFill>
                <a:srgbClr val="FF5757"/>
              </a:solidFill>
              <a:ln w="19050" cap="sq">
                <a:solidFill>
                  <a:srgbClr val="2795C4"/>
                </a:solidFill>
                <a:prstDash val="solid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19050"/>
                <a:ext cx="468985" cy="4324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04"/>
                  </a:lnSpc>
                </a:pPr>
                <a:r>
                  <a:rPr lang="en-US" sz="1146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Lectures des KPIs</a:t>
                </a: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5982370" y="1563466"/>
              <a:ext cx="1558050" cy="985573"/>
              <a:chOff x="0" y="0"/>
              <a:chExt cx="653559" cy="413421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653559" cy="413421"/>
              </a:xfrm>
              <a:custGeom>
                <a:avLst/>
                <a:gdLst/>
                <a:ahLst/>
                <a:cxnLst/>
                <a:rect r="r" b="b" t="t" l="l"/>
                <a:pathLst>
                  <a:path h="413421" w="653559">
                    <a:moveTo>
                      <a:pt x="54855" y="0"/>
                    </a:moveTo>
                    <a:lnTo>
                      <a:pt x="598705" y="0"/>
                    </a:lnTo>
                    <a:cubicBezTo>
                      <a:pt x="629000" y="0"/>
                      <a:pt x="653559" y="24559"/>
                      <a:pt x="653559" y="54855"/>
                    </a:cubicBezTo>
                    <a:lnTo>
                      <a:pt x="653559" y="358566"/>
                    </a:lnTo>
                    <a:cubicBezTo>
                      <a:pt x="653559" y="388861"/>
                      <a:pt x="629000" y="413421"/>
                      <a:pt x="598705" y="413421"/>
                    </a:cubicBezTo>
                    <a:lnTo>
                      <a:pt x="54855" y="413421"/>
                    </a:lnTo>
                    <a:cubicBezTo>
                      <a:pt x="24559" y="413421"/>
                      <a:pt x="0" y="388861"/>
                      <a:pt x="0" y="358566"/>
                    </a:cubicBezTo>
                    <a:lnTo>
                      <a:pt x="0" y="54855"/>
                    </a:lnTo>
                    <a:cubicBezTo>
                      <a:pt x="0" y="24559"/>
                      <a:pt x="24559" y="0"/>
                      <a:pt x="54855" y="0"/>
                    </a:cubicBezTo>
                    <a:close/>
                  </a:path>
                </a:pathLst>
              </a:custGeom>
              <a:solidFill>
                <a:srgbClr val="FF5757"/>
              </a:solidFill>
              <a:ln w="19050" cap="sq">
                <a:solidFill>
                  <a:srgbClr val="2795C4"/>
                </a:solidFill>
                <a:prstDash val="solid"/>
                <a:miter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19050"/>
                <a:ext cx="653559" cy="4324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04"/>
                  </a:lnSpc>
                </a:pPr>
                <a:r>
                  <a:rPr lang="en-US" sz="1146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Positionnement alternatives</a:t>
                </a:r>
              </a:p>
            </p:txBody>
          </p:sp>
        </p:grpSp>
        <p:sp>
          <p:nvSpPr>
            <p:cNvPr name="AutoShape 60" id="60"/>
            <p:cNvSpPr/>
            <p:nvPr/>
          </p:nvSpPr>
          <p:spPr>
            <a:xfrm>
              <a:off x="11992770" y="2056252"/>
              <a:ext cx="438367" cy="0"/>
            </a:xfrm>
            <a:prstGeom prst="line">
              <a:avLst/>
            </a:prstGeom>
            <a:ln cap="rnd" w="32354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61" id="61"/>
            <p:cNvSpPr/>
            <p:nvPr/>
          </p:nvSpPr>
          <p:spPr>
            <a:xfrm>
              <a:off x="13989188" y="2072429"/>
              <a:ext cx="438367" cy="0"/>
            </a:xfrm>
            <a:prstGeom prst="line">
              <a:avLst/>
            </a:prstGeom>
            <a:ln cap="rnd" w="32354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62" id="62"/>
            <p:cNvSpPr/>
            <p:nvPr/>
          </p:nvSpPr>
          <p:spPr>
            <a:xfrm>
              <a:off x="15544003" y="2072429"/>
              <a:ext cx="438367" cy="0"/>
            </a:xfrm>
            <a:prstGeom prst="line">
              <a:avLst/>
            </a:prstGeom>
            <a:ln cap="rnd" w="32354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63" id="63"/>
            <p:cNvSpPr/>
            <p:nvPr/>
          </p:nvSpPr>
          <p:spPr>
            <a:xfrm flipV="true">
              <a:off x="13545188" y="2565216"/>
              <a:ext cx="1441385" cy="4524908"/>
            </a:xfrm>
            <a:prstGeom prst="line">
              <a:avLst/>
            </a:prstGeom>
            <a:ln cap="flat" w="32354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64" id="64"/>
            <p:cNvGrpSpPr/>
            <p:nvPr/>
          </p:nvGrpSpPr>
          <p:grpSpPr>
            <a:xfrm rot="0">
              <a:off x="18076383" y="8524674"/>
              <a:ext cx="1558050" cy="985573"/>
              <a:chOff x="0" y="0"/>
              <a:chExt cx="653559" cy="413421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653559" cy="413421"/>
              </a:xfrm>
              <a:custGeom>
                <a:avLst/>
                <a:gdLst/>
                <a:ahLst/>
                <a:cxnLst/>
                <a:rect r="r" b="b" t="t" l="l"/>
                <a:pathLst>
                  <a:path h="413421" w="653559">
                    <a:moveTo>
                      <a:pt x="54855" y="0"/>
                    </a:moveTo>
                    <a:lnTo>
                      <a:pt x="598705" y="0"/>
                    </a:lnTo>
                    <a:cubicBezTo>
                      <a:pt x="629000" y="0"/>
                      <a:pt x="653559" y="24559"/>
                      <a:pt x="653559" y="54855"/>
                    </a:cubicBezTo>
                    <a:lnTo>
                      <a:pt x="653559" y="358566"/>
                    </a:lnTo>
                    <a:cubicBezTo>
                      <a:pt x="653559" y="388861"/>
                      <a:pt x="629000" y="413421"/>
                      <a:pt x="598705" y="413421"/>
                    </a:cubicBezTo>
                    <a:lnTo>
                      <a:pt x="54855" y="413421"/>
                    </a:lnTo>
                    <a:cubicBezTo>
                      <a:pt x="24559" y="413421"/>
                      <a:pt x="0" y="388861"/>
                      <a:pt x="0" y="358566"/>
                    </a:cubicBezTo>
                    <a:lnTo>
                      <a:pt x="0" y="54855"/>
                    </a:lnTo>
                    <a:cubicBezTo>
                      <a:pt x="0" y="24559"/>
                      <a:pt x="24559" y="0"/>
                      <a:pt x="54855" y="0"/>
                    </a:cubicBezTo>
                    <a:close/>
                  </a:path>
                </a:pathLst>
              </a:custGeom>
              <a:solidFill>
                <a:srgbClr val="FF5757"/>
              </a:solidFill>
              <a:ln w="19050" cap="sq">
                <a:solidFill>
                  <a:srgbClr val="2795C4"/>
                </a:solidFill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19050"/>
                <a:ext cx="653559" cy="4324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04"/>
                  </a:lnSpc>
                </a:pPr>
                <a:r>
                  <a:rPr lang="en-US" sz="1146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Lancement gAHP</a:t>
                </a:r>
              </a:p>
            </p:txBody>
          </p:sp>
        </p:grpSp>
        <p:sp>
          <p:nvSpPr>
            <p:cNvPr name="AutoShape 67" id="67"/>
            <p:cNvSpPr/>
            <p:nvPr/>
          </p:nvSpPr>
          <p:spPr>
            <a:xfrm>
              <a:off x="17540421" y="2056252"/>
              <a:ext cx="535963" cy="6961208"/>
            </a:xfrm>
            <a:prstGeom prst="line">
              <a:avLst/>
            </a:prstGeom>
            <a:ln cap="flat" w="32354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68" id="68"/>
            <p:cNvGrpSpPr/>
            <p:nvPr/>
          </p:nvGrpSpPr>
          <p:grpSpPr>
            <a:xfrm rot="0">
              <a:off x="20026101" y="8524674"/>
              <a:ext cx="1118036" cy="985573"/>
              <a:chOff x="0" y="0"/>
              <a:chExt cx="468985" cy="413421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468985" cy="413421"/>
              </a:xfrm>
              <a:custGeom>
                <a:avLst/>
                <a:gdLst/>
                <a:ahLst/>
                <a:cxnLst/>
                <a:rect r="r" b="b" t="t" l="l"/>
                <a:pathLst>
                  <a:path h="413421" w="468985">
                    <a:moveTo>
                      <a:pt x="76443" y="0"/>
                    </a:moveTo>
                    <a:lnTo>
                      <a:pt x="392542" y="0"/>
                    </a:lnTo>
                    <a:cubicBezTo>
                      <a:pt x="412816" y="0"/>
                      <a:pt x="432260" y="8054"/>
                      <a:pt x="446595" y="22390"/>
                    </a:cubicBezTo>
                    <a:cubicBezTo>
                      <a:pt x="460931" y="36726"/>
                      <a:pt x="468985" y="56169"/>
                      <a:pt x="468985" y="76443"/>
                    </a:cubicBezTo>
                    <a:lnTo>
                      <a:pt x="468985" y="336977"/>
                    </a:lnTo>
                    <a:cubicBezTo>
                      <a:pt x="468985" y="357251"/>
                      <a:pt x="460931" y="376695"/>
                      <a:pt x="446595" y="391031"/>
                    </a:cubicBezTo>
                    <a:cubicBezTo>
                      <a:pt x="432260" y="405367"/>
                      <a:pt x="412816" y="413421"/>
                      <a:pt x="392542" y="413421"/>
                    </a:cubicBezTo>
                    <a:lnTo>
                      <a:pt x="76443" y="413421"/>
                    </a:lnTo>
                    <a:cubicBezTo>
                      <a:pt x="56169" y="413421"/>
                      <a:pt x="36726" y="405367"/>
                      <a:pt x="22390" y="391031"/>
                    </a:cubicBezTo>
                    <a:cubicBezTo>
                      <a:pt x="8054" y="376695"/>
                      <a:pt x="0" y="357251"/>
                      <a:pt x="0" y="336977"/>
                    </a:cubicBezTo>
                    <a:lnTo>
                      <a:pt x="0" y="76443"/>
                    </a:lnTo>
                    <a:cubicBezTo>
                      <a:pt x="0" y="56169"/>
                      <a:pt x="8054" y="36726"/>
                      <a:pt x="22390" y="22390"/>
                    </a:cubicBezTo>
                    <a:cubicBezTo>
                      <a:pt x="36726" y="8054"/>
                      <a:pt x="56169" y="0"/>
                      <a:pt x="76443" y="0"/>
                    </a:cubicBezTo>
                    <a:close/>
                  </a:path>
                </a:pathLst>
              </a:custGeom>
              <a:solidFill>
                <a:srgbClr val="FF5757"/>
              </a:solidFill>
              <a:ln w="19050" cap="sq">
                <a:solidFill>
                  <a:srgbClr val="2795C4"/>
                </a:solidFill>
                <a:prstDash val="solid"/>
                <a:miter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19050"/>
                <a:ext cx="468985" cy="4324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04"/>
                  </a:lnSpc>
                </a:pPr>
                <a:r>
                  <a:rPr lang="en-US" sz="1146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Ranking</a:t>
                </a:r>
              </a:p>
            </p:txBody>
          </p:sp>
        </p:grpSp>
        <p:sp>
          <p:nvSpPr>
            <p:cNvPr name="AutoShape 71" id="71"/>
            <p:cNvSpPr/>
            <p:nvPr/>
          </p:nvSpPr>
          <p:spPr>
            <a:xfrm>
              <a:off x="19634434" y="9033638"/>
              <a:ext cx="391668" cy="0"/>
            </a:xfrm>
            <a:prstGeom prst="line">
              <a:avLst/>
            </a:prstGeom>
            <a:ln cap="rnd" w="32354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72" id="72"/>
            <p:cNvGrpSpPr/>
            <p:nvPr/>
          </p:nvGrpSpPr>
          <p:grpSpPr>
            <a:xfrm rot="0">
              <a:off x="21600255" y="3276170"/>
              <a:ext cx="1118036" cy="985573"/>
              <a:chOff x="0" y="0"/>
              <a:chExt cx="468985" cy="413421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468985" cy="413421"/>
              </a:xfrm>
              <a:custGeom>
                <a:avLst/>
                <a:gdLst/>
                <a:ahLst/>
                <a:cxnLst/>
                <a:rect r="r" b="b" t="t" l="l"/>
                <a:pathLst>
                  <a:path h="413421" w="468985">
                    <a:moveTo>
                      <a:pt x="76443" y="0"/>
                    </a:moveTo>
                    <a:lnTo>
                      <a:pt x="392542" y="0"/>
                    </a:lnTo>
                    <a:cubicBezTo>
                      <a:pt x="412816" y="0"/>
                      <a:pt x="432260" y="8054"/>
                      <a:pt x="446595" y="22390"/>
                    </a:cubicBezTo>
                    <a:cubicBezTo>
                      <a:pt x="460931" y="36726"/>
                      <a:pt x="468985" y="56169"/>
                      <a:pt x="468985" y="76443"/>
                    </a:cubicBezTo>
                    <a:lnTo>
                      <a:pt x="468985" y="336977"/>
                    </a:lnTo>
                    <a:cubicBezTo>
                      <a:pt x="468985" y="357251"/>
                      <a:pt x="460931" y="376695"/>
                      <a:pt x="446595" y="391031"/>
                    </a:cubicBezTo>
                    <a:cubicBezTo>
                      <a:pt x="432260" y="405367"/>
                      <a:pt x="412816" y="413421"/>
                      <a:pt x="392542" y="413421"/>
                    </a:cubicBezTo>
                    <a:lnTo>
                      <a:pt x="76443" y="413421"/>
                    </a:lnTo>
                    <a:cubicBezTo>
                      <a:pt x="56169" y="413421"/>
                      <a:pt x="36726" y="405367"/>
                      <a:pt x="22390" y="391031"/>
                    </a:cubicBezTo>
                    <a:cubicBezTo>
                      <a:pt x="8054" y="376695"/>
                      <a:pt x="0" y="357251"/>
                      <a:pt x="0" y="336977"/>
                    </a:cubicBezTo>
                    <a:lnTo>
                      <a:pt x="0" y="76443"/>
                    </a:lnTo>
                    <a:cubicBezTo>
                      <a:pt x="0" y="56169"/>
                      <a:pt x="8054" y="36726"/>
                      <a:pt x="22390" y="22390"/>
                    </a:cubicBezTo>
                    <a:cubicBezTo>
                      <a:pt x="36726" y="8054"/>
                      <a:pt x="56169" y="0"/>
                      <a:pt x="76443" y="0"/>
                    </a:cubicBezTo>
                    <a:close/>
                  </a:path>
                </a:pathLst>
              </a:custGeom>
              <a:solidFill>
                <a:srgbClr val="FF5757"/>
              </a:solidFill>
              <a:ln w="19050" cap="sq">
                <a:solidFill>
                  <a:srgbClr val="2795C4"/>
                </a:solidFill>
                <a:prstDash val="solid"/>
                <a:miter/>
              </a:ln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19050"/>
                <a:ext cx="468985" cy="4324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04"/>
                  </a:lnSpc>
                </a:pPr>
                <a:r>
                  <a:rPr lang="en-US" sz="1146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Ranking display</a:t>
                </a:r>
              </a:p>
            </p:txBody>
          </p:sp>
        </p:grpSp>
        <p:sp>
          <p:nvSpPr>
            <p:cNvPr name="AutoShape 75" id="75"/>
            <p:cNvSpPr/>
            <p:nvPr/>
          </p:nvSpPr>
          <p:spPr>
            <a:xfrm flipV="true">
              <a:off x="21144137" y="3768957"/>
              <a:ext cx="456118" cy="5248504"/>
            </a:xfrm>
            <a:prstGeom prst="line">
              <a:avLst/>
            </a:prstGeom>
            <a:ln cap="flat" w="32354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76" id="76"/>
            <p:cNvSpPr/>
            <p:nvPr/>
          </p:nvSpPr>
          <p:spPr>
            <a:xfrm>
              <a:off x="22718290" y="3752780"/>
              <a:ext cx="438367" cy="0"/>
            </a:xfrm>
            <a:prstGeom prst="line">
              <a:avLst/>
            </a:prstGeom>
            <a:ln cap="rnd" w="32354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77" id="77"/>
            <p:cNvGrpSpPr/>
            <p:nvPr/>
          </p:nvGrpSpPr>
          <p:grpSpPr>
            <a:xfrm rot="0">
              <a:off x="23150122" y="3349379"/>
              <a:ext cx="788752" cy="788752"/>
              <a:chOff x="0" y="0"/>
              <a:chExt cx="812800" cy="812800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3131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069"/>
                  </a:lnSpc>
                </a:pPr>
              </a:p>
            </p:txBody>
          </p:sp>
        </p:grpSp>
        <p:sp>
          <p:nvSpPr>
            <p:cNvPr name="TextBox 80" id="80"/>
            <p:cNvSpPr txBox="true"/>
            <p:nvPr/>
          </p:nvSpPr>
          <p:spPr>
            <a:xfrm rot="0">
              <a:off x="22814696" y="4213955"/>
              <a:ext cx="1459604" cy="301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4"/>
                </a:lnSpc>
                <a:spcBef>
                  <a:spcPct val="0"/>
                </a:spcBef>
              </a:pPr>
              <a:r>
                <a:rPr lang="en-US" sz="1303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Choix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-5400000">
              <a:off x="163917" y="8843494"/>
              <a:ext cx="1087335" cy="460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2"/>
                </a:lnSpc>
                <a:spcBef>
                  <a:spcPct val="0"/>
                </a:spcBef>
              </a:pPr>
              <a:r>
                <a:rPr lang="en-US" b="true" sz="210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gAHP</a:t>
              </a:r>
            </a:p>
          </p:txBody>
        </p:sp>
        <p:sp>
          <p:nvSpPr>
            <p:cNvPr name="AutoShape 82" id="82"/>
            <p:cNvSpPr/>
            <p:nvPr/>
          </p:nvSpPr>
          <p:spPr>
            <a:xfrm flipH="true" flipV="true">
              <a:off x="1321113" y="1170155"/>
              <a:ext cx="0" cy="8627709"/>
            </a:xfrm>
            <a:prstGeom prst="line">
              <a:avLst/>
            </a:prstGeom>
            <a:ln cap="flat" w="32354">
              <a:solidFill>
                <a:srgbClr val="A6A6A6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83" id="83"/>
            <p:cNvGrpSpPr/>
            <p:nvPr/>
          </p:nvGrpSpPr>
          <p:grpSpPr>
            <a:xfrm rot="0">
              <a:off x="22635932" y="0"/>
              <a:ext cx="1748068" cy="985573"/>
              <a:chOff x="0" y="0"/>
              <a:chExt cx="733266" cy="413421"/>
            </a:xfrm>
          </p:grpSpPr>
          <p:sp>
            <p:nvSpPr>
              <p:cNvPr name="Freeform 84" id="84"/>
              <p:cNvSpPr/>
              <p:nvPr/>
            </p:nvSpPr>
            <p:spPr>
              <a:xfrm flipH="false" flipV="false" rot="0">
                <a:off x="0" y="0"/>
                <a:ext cx="733266" cy="413421"/>
              </a:xfrm>
              <a:custGeom>
                <a:avLst/>
                <a:gdLst/>
                <a:ahLst/>
                <a:cxnLst/>
                <a:rect r="r" b="b" t="t" l="l"/>
                <a:pathLst>
                  <a:path h="413421" w="733266">
                    <a:moveTo>
                      <a:pt x="48892" y="0"/>
                    </a:moveTo>
                    <a:lnTo>
                      <a:pt x="684374" y="0"/>
                    </a:lnTo>
                    <a:cubicBezTo>
                      <a:pt x="711377" y="0"/>
                      <a:pt x="733266" y="21890"/>
                      <a:pt x="733266" y="48892"/>
                    </a:cubicBezTo>
                    <a:lnTo>
                      <a:pt x="733266" y="364529"/>
                    </a:lnTo>
                    <a:cubicBezTo>
                      <a:pt x="733266" y="391531"/>
                      <a:pt x="711377" y="413421"/>
                      <a:pt x="684374" y="413421"/>
                    </a:cubicBezTo>
                    <a:lnTo>
                      <a:pt x="48892" y="413421"/>
                    </a:lnTo>
                    <a:cubicBezTo>
                      <a:pt x="21890" y="413421"/>
                      <a:pt x="0" y="391531"/>
                      <a:pt x="0" y="364529"/>
                    </a:cubicBezTo>
                    <a:lnTo>
                      <a:pt x="0" y="48892"/>
                    </a:lnTo>
                    <a:cubicBezTo>
                      <a:pt x="0" y="21890"/>
                      <a:pt x="21890" y="0"/>
                      <a:pt x="48892" y="0"/>
                    </a:cubicBezTo>
                    <a:close/>
                  </a:path>
                </a:pathLst>
              </a:custGeom>
              <a:solidFill>
                <a:srgbClr val="FF5757"/>
              </a:solidFill>
              <a:ln w="19050" cap="sq">
                <a:solidFill>
                  <a:srgbClr val="2795C4"/>
                </a:solidFill>
                <a:prstDash val="solid"/>
                <a:miter/>
              </a:ln>
            </p:spPr>
          </p:sp>
          <p:sp>
            <p:nvSpPr>
              <p:cNvPr name="TextBox 85" id="85"/>
              <p:cNvSpPr txBox="true"/>
              <p:nvPr/>
            </p:nvSpPr>
            <p:spPr>
              <a:xfrm>
                <a:off x="0" y="-28575"/>
                <a:ext cx="733266" cy="4419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83"/>
                  </a:lnSpc>
                </a:pPr>
                <a:r>
                  <a:rPr lang="en-US" b="true" sz="1273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INTERVENTION STAGE</a:t>
                </a:r>
              </a:p>
            </p:txBody>
          </p:sp>
        </p:grpSp>
      </p:grpSp>
      <p:grpSp>
        <p:nvGrpSpPr>
          <p:cNvPr name="Group 86" id="86"/>
          <p:cNvGrpSpPr/>
          <p:nvPr/>
        </p:nvGrpSpPr>
        <p:grpSpPr>
          <a:xfrm rot="0">
            <a:off x="15985201" y="0"/>
            <a:ext cx="887736" cy="887736"/>
            <a:chOff x="0" y="0"/>
            <a:chExt cx="812800" cy="8128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26"/>
                </a:lnSpc>
              </a:pPr>
              <a:r>
                <a:rPr lang="en-US" b="true" sz="29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8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641909" y="3389047"/>
            <a:ext cx="2126129" cy="1627021"/>
            <a:chOff x="0" y="0"/>
            <a:chExt cx="928773" cy="71074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28773" cy="710744"/>
            </a:xfrm>
            <a:custGeom>
              <a:avLst/>
              <a:gdLst/>
              <a:ahLst/>
              <a:cxnLst/>
              <a:rect r="r" b="b" t="t" l="l"/>
              <a:pathLst>
                <a:path h="710744" w="928773">
                  <a:moveTo>
                    <a:pt x="464386" y="0"/>
                  </a:moveTo>
                  <a:cubicBezTo>
                    <a:pt x="207913" y="0"/>
                    <a:pt x="0" y="159105"/>
                    <a:pt x="0" y="355372"/>
                  </a:cubicBezTo>
                  <a:cubicBezTo>
                    <a:pt x="0" y="551638"/>
                    <a:pt x="207913" y="710744"/>
                    <a:pt x="464386" y="710744"/>
                  </a:cubicBezTo>
                  <a:cubicBezTo>
                    <a:pt x="720860" y="710744"/>
                    <a:pt x="928773" y="551638"/>
                    <a:pt x="928773" y="355372"/>
                  </a:cubicBezTo>
                  <a:cubicBezTo>
                    <a:pt x="928773" y="159105"/>
                    <a:pt x="720860" y="0"/>
                    <a:pt x="464386" y="0"/>
                  </a:cubicBezTo>
                  <a:close/>
                </a:path>
              </a:pathLst>
            </a:custGeom>
            <a:solidFill>
              <a:srgbClr val="FF3131">
                <a:alpha val="12941"/>
              </a:srgbClr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87072" y="28532"/>
              <a:ext cx="754628" cy="615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6"/>
                </a:lnSpc>
              </a:pPr>
            </a:p>
          </p:txBody>
        </p:sp>
      </p:grpSp>
      <p:sp>
        <p:nvSpPr>
          <p:cNvPr name="TextBox 92" id="92"/>
          <p:cNvSpPr txBox="true"/>
          <p:nvPr/>
        </p:nvSpPr>
        <p:spPr>
          <a:xfrm rot="0">
            <a:off x="0" y="7651358"/>
            <a:ext cx="11581159" cy="251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Développement de 5 grands blocs 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1. Solution pour </a:t>
            </a:r>
            <a:r>
              <a:rPr lang="en-US" b="true" sz="2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paramétrer l’application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;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2. </a:t>
            </a:r>
            <a:r>
              <a:rPr lang="en-US" b="true" sz="2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IHM 1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: saisie des préférences ;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3. Programme de </a:t>
            </a:r>
            <a:r>
              <a:rPr lang="en-US" b="true" sz="2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traitement des préférences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;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4. Interface Python permettant d’</a:t>
            </a:r>
            <a:r>
              <a:rPr lang="en-US" b="true" sz="2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interagir avec le modèle d’aide à la décision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;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5. </a:t>
            </a:r>
            <a:r>
              <a:rPr lang="en-US" b="true" sz="2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IHM 2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: consultation et retour de l’alternative sélectionnée</a:t>
            </a:r>
          </a:p>
        </p:txBody>
      </p:sp>
      <p:grpSp>
        <p:nvGrpSpPr>
          <p:cNvPr name="Group 93" id="93"/>
          <p:cNvGrpSpPr/>
          <p:nvPr/>
        </p:nvGrpSpPr>
        <p:grpSpPr>
          <a:xfrm rot="0">
            <a:off x="6071055" y="2725013"/>
            <a:ext cx="818488" cy="818488"/>
            <a:chOff x="0" y="0"/>
            <a:chExt cx="812800" cy="8128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D2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7315350" y="887736"/>
            <a:ext cx="6598722" cy="1860646"/>
            <a:chOff x="0" y="0"/>
            <a:chExt cx="2882569" cy="8128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882569" cy="812800"/>
            </a:xfrm>
            <a:custGeom>
              <a:avLst/>
              <a:gdLst/>
              <a:ahLst/>
              <a:cxnLst/>
              <a:rect r="r" b="b" t="t" l="l"/>
              <a:pathLst>
                <a:path h="812800" w="2882569">
                  <a:moveTo>
                    <a:pt x="1441285" y="0"/>
                  </a:moveTo>
                  <a:cubicBezTo>
                    <a:pt x="645285" y="0"/>
                    <a:pt x="0" y="181951"/>
                    <a:pt x="0" y="406400"/>
                  </a:cubicBezTo>
                  <a:cubicBezTo>
                    <a:pt x="0" y="630849"/>
                    <a:pt x="645285" y="812800"/>
                    <a:pt x="1441285" y="812800"/>
                  </a:cubicBezTo>
                  <a:cubicBezTo>
                    <a:pt x="2237284" y="812800"/>
                    <a:pt x="2882569" y="630849"/>
                    <a:pt x="2882569" y="406400"/>
                  </a:cubicBezTo>
                  <a:cubicBezTo>
                    <a:pt x="2882569" y="181951"/>
                    <a:pt x="2237284" y="0"/>
                    <a:pt x="1441285" y="0"/>
                  </a:cubicBezTo>
                  <a:close/>
                </a:path>
              </a:pathLst>
            </a:custGeom>
            <a:solidFill>
              <a:srgbClr val="FF3131">
                <a:alpha val="12941"/>
              </a:srgbClr>
            </a:solidFill>
          </p:spPr>
        </p:sp>
        <p:sp>
          <p:nvSpPr>
            <p:cNvPr name="TextBox 98" id="98"/>
            <p:cNvSpPr txBox="true"/>
            <p:nvPr/>
          </p:nvSpPr>
          <p:spPr>
            <a:xfrm>
              <a:off x="270241" y="38100"/>
              <a:ext cx="2342087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6"/>
                </a:lnSpc>
              </a:pP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0205468" y="317579"/>
            <a:ext cx="818488" cy="818488"/>
            <a:chOff x="0" y="0"/>
            <a:chExt cx="812800" cy="8128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D2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3042063" y="5847862"/>
            <a:ext cx="3387006" cy="1860646"/>
            <a:chOff x="0" y="0"/>
            <a:chExt cx="1479571" cy="8128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479571" cy="812800"/>
            </a:xfrm>
            <a:custGeom>
              <a:avLst/>
              <a:gdLst/>
              <a:ahLst/>
              <a:cxnLst/>
              <a:rect r="r" b="b" t="t" l="l"/>
              <a:pathLst>
                <a:path h="812800" w="1479571">
                  <a:moveTo>
                    <a:pt x="739786" y="0"/>
                  </a:moveTo>
                  <a:cubicBezTo>
                    <a:pt x="331213" y="0"/>
                    <a:pt x="0" y="181951"/>
                    <a:pt x="0" y="406400"/>
                  </a:cubicBezTo>
                  <a:cubicBezTo>
                    <a:pt x="0" y="630849"/>
                    <a:pt x="331213" y="812800"/>
                    <a:pt x="739786" y="812800"/>
                  </a:cubicBezTo>
                  <a:cubicBezTo>
                    <a:pt x="1148358" y="812800"/>
                    <a:pt x="1479571" y="630849"/>
                    <a:pt x="1479571" y="406400"/>
                  </a:cubicBezTo>
                  <a:cubicBezTo>
                    <a:pt x="1479571" y="181951"/>
                    <a:pt x="1148358" y="0"/>
                    <a:pt x="739786" y="0"/>
                  </a:cubicBezTo>
                  <a:close/>
                </a:path>
              </a:pathLst>
            </a:custGeom>
            <a:solidFill>
              <a:srgbClr val="FF3131">
                <a:alpha val="12941"/>
              </a:srgbClr>
            </a:solidFill>
          </p:spPr>
        </p:sp>
        <p:sp>
          <p:nvSpPr>
            <p:cNvPr name="TextBox 104" id="104"/>
            <p:cNvSpPr txBox="true"/>
            <p:nvPr/>
          </p:nvSpPr>
          <p:spPr>
            <a:xfrm>
              <a:off x="138710" y="38100"/>
              <a:ext cx="1202152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6"/>
                </a:lnSpc>
              </a:pP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4326322" y="5585843"/>
            <a:ext cx="818488" cy="818488"/>
            <a:chOff x="0" y="0"/>
            <a:chExt cx="812800" cy="8128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D2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7" id="10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5886768" y="1998768"/>
            <a:ext cx="2401232" cy="1860646"/>
            <a:chOff x="0" y="0"/>
            <a:chExt cx="1048948" cy="8128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48948" cy="812800"/>
            </a:xfrm>
            <a:custGeom>
              <a:avLst/>
              <a:gdLst/>
              <a:ahLst/>
              <a:cxnLst/>
              <a:rect r="r" b="b" t="t" l="l"/>
              <a:pathLst>
                <a:path h="812800" w="1048948">
                  <a:moveTo>
                    <a:pt x="524474" y="0"/>
                  </a:moveTo>
                  <a:cubicBezTo>
                    <a:pt x="234815" y="0"/>
                    <a:pt x="0" y="181951"/>
                    <a:pt x="0" y="406400"/>
                  </a:cubicBezTo>
                  <a:cubicBezTo>
                    <a:pt x="0" y="630849"/>
                    <a:pt x="234815" y="812800"/>
                    <a:pt x="524474" y="812800"/>
                  </a:cubicBezTo>
                  <a:cubicBezTo>
                    <a:pt x="814133" y="812800"/>
                    <a:pt x="1048948" y="630849"/>
                    <a:pt x="1048948" y="406400"/>
                  </a:cubicBezTo>
                  <a:cubicBezTo>
                    <a:pt x="1048948" y="181951"/>
                    <a:pt x="814133" y="0"/>
                    <a:pt x="524474" y="0"/>
                  </a:cubicBezTo>
                  <a:close/>
                </a:path>
              </a:pathLst>
            </a:custGeom>
            <a:solidFill>
              <a:srgbClr val="FF3131">
                <a:alpha val="12941"/>
              </a:srgbClr>
            </a:solidFill>
          </p:spPr>
        </p:sp>
        <p:sp>
          <p:nvSpPr>
            <p:cNvPr name="TextBox 110" id="110"/>
            <p:cNvSpPr txBox="true"/>
            <p:nvPr/>
          </p:nvSpPr>
          <p:spPr>
            <a:xfrm>
              <a:off x="98339" y="38100"/>
              <a:ext cx="85227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86"/>
                </a:lnSpc>
              </a:pP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6678140" y="1589524"/>
            <a:ext cx="818488" cy="818488"/>
            <a:chOff x="0" y="0"/>
            <a:chExt cx="812800" cy="8128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D2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3" id="1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74626"/>
            <a:ext cx="9154743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9976FF"/>
                </a:solidFill>
                <a:latin typeface="Arimo Bold"/>
                <a:ea typeface="Arimo Bold"/>
                <a:cs typeface="Arimo Bold"/>
                <a:sym typeface="Arimo Bold"/>
              </a:rPr>
              <a:t>Les propositions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400264" y="0"/>
            <a:ext cx="887736" cy="88773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26"/>
                </a:lnSpc>
              </a:pPr>
              <a:r>
                <a:rPr lang="en-US" b="true" sz="29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9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662550" y="6922279"/>
            <a:ext cx="2797109" cy="279710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4792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49"/>
                </a:lnSpc>
              </a:pPr>
              <a:r>
                <a:rPr lang="en-US" b="true" sz="2178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Solutions possibles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947174" y="3991901"/>
            <a:ext cx="2227862" cy="222786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06D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28724" lIns="28724" bIns="28724" rIns="28724"/>
            <a:lstStyle/>
            <a:p>
              <a:pPr algn="ctr" marL="0" indent="0" lvl="0">
                <a:lnSpc>
                  <a:spcPts val="2866"/>
                </a:lnSpc>
                <a:spcBef>
                  <a:spcPct val="0"/>
                </a:spcBef>
              </a:pPr>
              <a:r>
                <a:rPr lang="en-US" b="true" sz="2047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Interface Web dynamique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590885" y="7206902"/>
            <a:ext cx="2227862" cy="222786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28724" lIns="28724" bIns="28724" rIns="28724"/>
            <a:lstStyle/>
            <a:p>
              <a:pPr algn="ctr">
                <a:lnSpc>
                  <a:spcPts val="2866"/>
                </a:lnSpc>
              </a:pPr>
              <a:r>
                <a:rPr lang="en-US" b="true" sz="2047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Interface en VBA sur Excel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6818747" y="8320833"/>
            <a:ext cx="843803" cy="0"/>
          </a:xfrm>
          <a:prstGeom prst="line">
            <a:avLst/>
          </a:prstGeom>
          <a:ln cap="flat" w="38100">
            <a:solidFill>
              <a:srgbClr val="929292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H="true">
            <a:off x="9061105" y="6219762"/>
            <a:ext cx="0" cy="702516"/>
          </a:xfrm>
          <a:prstGeom prst="line">
            <a:avLst/>
          </a:prstGeom>
          <a:ln cap="flat" w="38100">
            <a:solidFill>
              <a:srgbClr val="929292"/>
            </a:solidFill>
            <a:prstDash val="solid"/>
            <a:headEnd type="triangle" len="med" w="lg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1362638" y="7153595"/>
            <a:ext cx="2334477" cy="233447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28724" lIns="28724" bIns="28724" rIns="28724"/>
            <a:lstStyle/>
            <a:p>
              <a:pPr algn="ctr">
                <a:lnSpc>
                  <a:spcPts val="2866"/>
                </a:lnSpc>
              </a:pPr>
              <a:r>
                <a:rPr lang="en-US" b="true" sz="2047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Interface Python type Tkinter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flipH="true" flipV="true">
            <a:off x="10459660" y="8320833"/>
            <a:ext cx="902979" cy="0"/>
          </a:xfrm>
          <a:prstGeom prst="line">
            <a:avLst/>
          </a:prstGeom>
          <a:ln cap="flat" w="38100">
            <a:solidFill>
              <a:srgbClr val="929292"/>
            </a:solidFill>
            <a:prstDash val="solid"/>
            <a:headEnd type="triangle" len="med" w="lg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6592988" y="1986961"/>
            <a:ext cx="1979104" cy="197910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4C8A4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28724" lIns="28724" bIns="28724" rIns="28724"/>
            <a:lstStyle/>
            <a:p>
              <a:pPr algn="ctr" marL="0" indent="0" lvl="0">
                <a:lnSpc>
                  <a:spcPts val="2726"/>
                </a:lnSpc>
                <a:spcBef>
                  <a:spcPct val="0"/>
                </a:spcBef>
              </a:pPr>
              <a:r>
                <a:rPr lang="en-US" b="true" sz="1947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Accessibilité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459660" y="2357970"/>
            <a:ext cx="2678686" cy="2589884"/>
            <a:chOff x="0" y="0"/>
            <a:chExt cx="1100112" cy="106364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0112" cy="1063642"/>
            </a:xfrm>
            <a:custGeom>
              <a:avLst/>
              <a:gdLst/>
              <a:ahLst/>
              <a:cxnLst/>
              <a:rect r="r" b="b" t="t" l="l"/>
              <a:pathLst>
                <a:path h="1063642" w="1100112">
                  <a:moveTo>
                    <a:pt x="550056" y="0"/>
                  </a:moveTo>
                  <a:cubicBezTo>
                    <a:pt x="246268" y="0"/>
                    <a:pt x="0" y="238104"/>
                    <a:pt x="0" y="531821"/>
                  </a:cubicBezTo>
                  <a:cubicBezTo>
                    <a:pt x="0" y="825537"/>
                    <a:pt x="246268" y="1063642"/>
                    <a:pt x="550056" y="1063642"/>
                  </a:cubicBezTo>
                  <a:cubicBezTo>
                    <a:pt x="853843" y="1063642"/>
                    <a:pt x="1100112" y="825537"/>
                    <a:pt x="1100112" y="531821"/>
                  </a:cubicBezTo>
                  <a:cubicBezTo>
                    <a:pt x="1100112" y="238104"/>
                    <a:pt x="853843" y="0"/>
                    <a:pt x="550056" y="0"/>
                  </a:cubicBezTo>
                  <a:close/>
                </a:path>
              </a:pathLst>
            </a:custGeom>
            <a:solidFill>
              <a:srgbClr val="34C8A4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103135" y="52091"/>
              <a:ext cx="893841" cy="911834"/>
            </a:xfrm>
            <a:prstGeom prst="rect">
              <a:avLst/>
            </a:prstGeom>
          </p:spPr>
          <p:txBody>
            <a:bodyPr anchor="ctr" rtlCol="false" tIns="28724" lIns="28724" bIns="28724" rIns="28724"/>
            <a:lstStyle/>
            <a:p>
              <a:pPr algn="ctr" marL="0" indent="0" lvl="0">
                <a:lnSpc>
                  <a:spcPts val="2866"/>
                </a:lnSpc>
                <a:spcBef>
                  <a:spcPct val="0"/>
                </a:spcBef>
              </a:pPr>
              <a:r>
                <a:rPr lang="en-US" b="true" sz="2047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Ne nécéssite pas d’installation par l’utilisateur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flipV="true">
            <a:off x="7178039" y="5224308"/>
            <a:ext cx="775361" cy="134834"/>
          </a:xfrm>
          <a:prstGeom prst="line">
            <a:avLst/>
          </a:prstGeom>
          <a:ln cap="flat" w="38100">
            <a:solidFill>
              <a:srgbClr val="929292"/>
            </a:solidFill>
            <a:prstDash val="solid"/>
            <a:headEnd type="triangle" len="med" w="lg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5062975" y="4527694"/>
            <a:ext cx="2128575" cy="1979104"/>
            <a:chOff x="0" y="0"/>
            <a:chExt cx="874186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74186" cy="812800"/>
            </a:xfrm>
            <a:custGeom>
              <a:avLst/>
              <a:gdLst/>
              <a:ahLst/>
              <a:cxnLst/>
              <a:rect r="r" b="b" t="t" l="l"/>
              <a:pathLst>
                <a:path h="812800" w="874186">
                  <a:moveTo>
                    <a:pt x="437093" y="0"/>
                  </a:moveTo>
                  <a:cubicBezTo>
                    <a:pt x="195693" y="0"/>
                    <a:pt x="0" y="181951"/>
                    <a:pt x="0" y="406400"/>
                  </a:cubicBezTo>
                  <a:cubicBezTo>
                    <a:pt x="0" y="630849"/>
                    <a:pt x="195693" y="812800"/>
                    <a:pt x="437093" y="812800"/>
                  </a:cubicBezTo>
                  <a:cubicBezTo>
                    <a:pt x="678493" y="812800"/>
                    <a:pt x="874186" y="630849"/>
                    <a:pt x="874186" y="406400"/>
                  </a:cubicBezTo>
                  <a:cubicBezTo>
                    <a:pt x="874186" y="181951"/>
                    <a:pt x="678493" y="0"/>
                    <a:pt x="437093" y="0"/>
                  </a:cubicBezTo>
                  <a:close/>
                </a:path>
              </a:pathLst>
            </a:custGeom>
            <a:solidFill>
              <a:srgbClr val="34C8A4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81955" y="28575"/>
              <a:ext cx="710276" cy="708025"/>
            </a:xfrm>
            <a:prstGeom prst="rect">
              <a:avLst/>
            </a:prstGeom>
          </p:spPr>
          <p:txBody>
            <a:bodyPr anchor="ctr" rtlCol="false" tIns="28724" lIns="28724" bIns="28724" rIns="28724"/>
            <a:lstStyle/>
            <a:p>
              <a:pPr algn="ctr" marL="0" indent="0" lvl="0">
                <a:lnSpc>
                  <a:spcPts val="2726"/>
                </a:lnSpc>
                <a:spcBef>
                  <a:spcPct val="0"/>
                </a:spcBef>
              </a:pPr>
              <a:r>
                <a:rPr lang="en-US" b="true" sz="1947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Configuration simple du serveur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8143908" y="3791534"/>
            <a:ext cx="274777" cy="404164"/>
          </a:xfrm>
          <a:prstGeom prst="line">
            <a:avLst/>
          </a:prstGeom>
          <a:ln cap="flat" w="38100">
            <a:solidFill>
              <a:srgbClr val="929292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>
            <a:off x="10095512" y="4315502"/>
            <a:ext cx="552515" cy="376200"/>
          </a:xfrm>
          <a:prstGeom prst="line">
            <a:avLst/>
          </a:prstGeom>
          <a:ln cap="flat" w="38100">
            <a:solidFill>
              <a:srgbClr val="929292"/>
            </a:solidFill>
            <a:prstDash val="solid"/>
            <a:headEnd type="triangle" len="med" w="lg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8909" y="721930"/>
            <a:ext cx="7195237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Les propositions : le serveur web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9832208"/>
            <a:ext cx="5838625" cy="315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6"/>
              </a:lnSpc>
              <a:spcBef>
                <a:spcPct val="0"/>
              </a:spcBef>
            </a:pPr>
            <a:r>
              <a:rPr lang="en-US" b="true" sz="18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* Protocole WSGI : Web Server Gateway Interface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69456" y="1028700"/>
            <a:ext cx="16210386" cy="8619563"/>
            <a:chOff x="0" y="0"/>
            <a:chExt cx="21613848" cy="1149275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6417458" y="7960533"/>
              <a:ext cx="2970482" cy="2970482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90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28724" lIns="28724" bIns="28724" rIns="28724"/>
              <a:lstStyle/>
              <a:p>
                <a:pPr algn="ctr" marL="0" indent="0" lvl="0">
                  <a:lnSpc>
                    <a:spcPts val="2726"/>
                  </a:lnSpc>
                  <a:spcBef>
                    <a:spcPct val="0"/>
                  </a:spcBef>
                </a:pPr>
                <a:r>
                  <a:rPr lang="en-US" b="true" sz="1947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APPLICATION</a:t>
                </a: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7867783"/>
              <a:ext cx="2924364" cy="3155981"/>
              <a:chOff x="0" y="0"/>
              <a:chExt cx="812800" cy="87717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77176"/>
              </a:xfrm>
              <a:custGeom>
                <a:avLst/>
                <a:gdLst/>
                <a:ahLst/>
                <a:cxnLst/>
                <a:rect r="r" b="b" t="t" l="l"/>
                <a:pathLst>
                  <a:path h="877176" w="812800">
                    <a:moveTo>
                      <a:pt x="406400" y="0"/>
                    </a:moveTo>
                    <a:cubicBezTo>
                      <a:pt x="181951" y="0"/>
                      <a:pt x="0" y="196362"/>
                      <a:pt x="0" y="438588"/>
                    </a:cubicBezTo>
                    <a:cubicBezTo>
                      <a:pt x="0" y="680813"/>
                      <a:pt x="181951" y="877176"/>
                      <a:pt x="406400" y="877176"/>
                    </a:cubicBezTo>
                    <a:cubicBezTo>
                      <a:pt x="630849" y="877176"/>
                      <a:pt x="812800" y="680813"/>
                      <a:pt x="812800" y="438588"/>
                    </a:cubicBezTo>
                    <a:cubicBezTo>
                      <a:pt x="812800" y="196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4C8A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44135"/>
                <a:ext cx="660400" cy="750805"/>
              </a:xfrm>
              <a:prstGeom prst="rect">
                <a:avLst/>
              </a:prstGeom>
            </p:spPr>
            <p:txBody>
              <a:bodyPr anchor="ctr" rtlCol="false" tIns="28724" lIns="28724" bIns="28724" rIns="28724"/>
              <a:lstStyle/>
              <a:p>
                <a:pPr algn="ctr" marL="0" indent="0" lvl="0">
                  <a:lnSpc>
                    <a:spcPts val="2586"/>
                  </a:lnSpc>
                  <a:spcBef>
                    <a:spcPct val="0"/>
                  </a:spcBef>
                </a:pPr>
                <a:r>
                  <a:rPr lang="en-US" sz="1847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Micro Framework de développement</a:t>
                </a:r>
                <a:r>
                  <a:rPr lang="en-US" b="true" sz="1847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 Flask</a:t>
                </a: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6116909" y="2992789"/>
              <a:ext cx="3571581" cy="3453179"/>
              <a:chOff x="0" y="0"/>
              <a:chExt cx="1100112" cy="106364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100112" cy="1063642"/>
              </a:xfrm>
              <a:custGeom>
                <a:avLst/>
                <a:gdLst/>
                <a:ahLst/>
                <a:cxnLst/>
                <a:rect r="r" b="b" t="t" l="l"/>
                <a:pathLst>
                  <a:path h="1063642" w="1100112">
                    <a:moveTo>
                      <a:pt x="550056" y="0"/>
                    </a:moveTo>
                    <a:cubicBezTo>
                      <a:pt x="246268" y="0"/>
                      <a:pt x="0" y="238104"/>
                      <a:pt x="0" y="531821"/>
                    </a:cubicBezTo>
                    <a:cubicBezTo>
                      <a:pt x="0" y="825537"/>
                      <a:pt x="246268" y="1063642"/>
                      <a:pt x="550056" y="1063642"/>
                    </a:cubicBezTo>
                    <a:cubicBezTo>
                      <a:pt x="853843" y="1063642"/>
                      <a:pt x="1100112" y="825537"/>
                      <a:pt x="1100112" y="531821"/>
                    </a:cubicBezTo>
                    <a:cubicBezTo>
                      <a:pt x="1100112" y="238104"/>
                      <a:pt x="853843" y="0"/>
                      <a:pt x="550056" y="0"/>
                    </a:cubicBezTo>
                    <a:close/>
                  </a:path>
                </a:pathLst>
              </a:custGeom>
              <a:solidFill>
                <a:srgbClr val="34C8A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03135" y="52091"/>
                <a:ext cx="893841" cy="911834"/>
              </a:xfrm>
              <a:prstGeom prst="rect">
                <a:avLst/>
              </a:prstGeom>
            </p:spPr>
            <p:txBody>
              <a:bodyPr anchor="ctr" rtlCol="false" tIns="28724" lIns="28724" bIns="28724" rIns="28724"/>
              <a:lstStyle/>
              <a:p>
                <a:pPr algn="ctr">
                  <a:lnSpc>
                    <a:spcPts val="2726"/>
                  </a:lnSpc>
                </a:pPr>
                <a:r>
                  <a:rPr lang="en-US" sz="1947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Serveur d’exécution WSGI</a:t>
                </a:r>
              </a:p>
              <a:p>
                <a:pPr algn="ctr" marL="0" indent="0" lvl="0">
                  <a:lnSpc>
                    <a:spcPts val="2726"/>
                  </a:lnSpc>
                  <a:spcBef>
                    <a:spcPct val="0"/>
                  </a:spcBef>
                </a:pPr>
                <a:r>
                  <a:rPr lang="en-US" b="true" sz="1947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Waitress *</a:t>
                </a:r>
              </a:p>
            </p:txBody>
          </p:sp>
        </p:grpSp>
        <p:sp>
          <p:nvSpPr>
            <p:cNvPr name="AutoShape 14" id="14"/>
            <p:cNvSpPr/>
            <p:nvPr/>
          </p:nvSpPr>
          <p:spPr>
            <a:xfrm flipH="true" flipV="true">
              <a:off x="9313022" y="9912814"/>
              <a:ext cx="1453009" cy="20209"/>
            </a:xfrm>
            <a:prstGeom prst="line">
              <a:avLst/>
            </a:prstGeom>
            <a:ln cap="flat" w="50800">
              <a:solidFill>
                <a:srgbClr val="929292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5" id="15"/>
            <p:cNvGrpSpPr/>
            <p:nvPr/>
          </p:nvGrpSpPr>
          <p:grpSpPr>
            <a:xfrm rot="0">
              <a:off x="10742547" y="8853945"/>
              <a:ext cx="2838100" cy="2638806"/>
              <a:chOff x="0" y="0"/>
              <a:chExt cx="874186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74186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74186">
                    <a:moveTo>
                      <a:pt x="437093" y="0"/>
                    </a:moveTo>
                    <a:cubicBezTo>
                      <a:pt x="195693" y="0"/>
                      <a:pt x="0" y="181951"/>
                      <a:pt x="0" y="406400"/>
                    </a:cubicBezTo>
                    <a:cubicBezTo>
                      <a:pt x="0" y="630849"/>
                      <a:pt x="195693" y="812800"/>
                      <a:pt x="437093" y="812800"/>
                    </a:cubicBezTo>
                    <a:cubicBezTo>
                      <a:pt x="678493" y="812800"/>
                      <a:pt x="874186" y="630849"/>
                      <a:pt x="874186" y="406400"/>
                    </a:cubicBezTo>
                    <a:cubicBezTo>
                      <a:pt x="874186" y="181951"/>
                      <a:pt x="678493" y="0"/>
                      <a:pt x="437093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81955" y="38100"/>
                <a:ext cx="710276" cy="698500"/>
              </a:xfrm>
              <a:prstGeom prst="rect">
                <a:avLst/>
              </a:prstGeom>
            </p:spPr>
            <p:txBody>
              <a:bodyPr anchor="ctr" rtlCol="false" tIns="28724" lIns="28724" bIns="28724" rIns="28724"/>
              <a:lstStyle/>
              <a:p>
                <a:pPr algn="ctr" marL="0" indent="0" lvl="0">
                  <a:lnSpc>
                    <a:spcPts val="2586"/>
                  </a:lnSpc>
                  <a:spcBef>
                    <a:spcPct val="0"/>
                  </a:spcBef>
                </a:pPr>
                <a:r>
                  <a:rPr lang="en-US" b="true" sz="1847">
                    <a:solidFill>
                      <a:srgbClr val="000000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Choix de ne pas utiliser de base de données</a:t>
                </a:r>
              </a:p>
            </p:txBody>
          </p:sp>
        </p:grpSp>
        <p:sp>
          <p:nvSpPr>
            <p:cNvPr name="AutoShape 18" id="18"/>
            <p:cNvSpPr/>
            <p:nvPr/>
          </p:nvSpPr>
          <p:spPr>
            <a:xfrm>
              <a:off x="2924364" y="9445774"/>
              <a:ext cx="3493094" cy="0"/>
            </a:xfrm>
            <a:prstGeom prst="line">
              <a:avLst/>
            </a:prstGeom>
            <a:ln cap="flat" w="50800">
              <a:solidFill>
                <a:srgbClr val="929292"/>
              </a:solidFill>
              <a:prstDash val="solid"/>
              <a:headEnd type="triangle" len="med" w="lg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7902700" y="6445968"/>
              <a:ext cx="0" cy="1514565"/>
            </a:xfrm>
            <a:prstGeom prst="line">
              <a:avLst/>
            </a:prstGeom>
            <a:ln cap="flat" w="50800">
              <a:solidFill>
                <a:srgbClr val="929292"/>
              </a:solidFill>
              <a:prstDash val="solid"/>
              <a:headEnd type="triangle" len="med" w="lg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 flipV="true">
              <a:off x="2508094" y="5626735"/>
              <a:ext cx="3874998" cy="2716324"/>
            </a:xfrm>
            <a:prstGeom prst="line">
              <a:avLst/>
            </a:prstGeom>
            <a:ln cap="flat" w="50800">
              <a:solidFill>
                <a:srgbClr val="929292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21" id="21"/>
            <p:cNvGrpSpPr/>
            <p:nvPr/>
          </p:nvGrpSpPr>
          <p:grpSpPr>
            <a:xfrm rot="0">
              <a:off x="12409055" y="0"/>
              <a:ext cx="4326794" cy="2970030"/>
              <a:chOff x="0" y="0"/>
              <a:chExt cx="854675" cy="58667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54675" cy="586673"/>
              </a:xfrm>
              <a:custGeom>
                <a:avLst/>
                <a:gdLst/>
                <a:ahLst/>
                <a:cxnLst/>
                <a:rect r="r" b="b" t="t" l="l"/>
                <a:pathLst>
                  <a:path h="586673" w="854675">
                    <a:moveTo>
                      <a:pt x="52486" y="0"/>
                    </a:moveTo>
                    <a:lnTo>
                      <a:pt x="802189" y="0"/>
                    </a:lnTo>
                    <a:cubicBezTo>
                      <a:pt x="816110" y="0"/>
                      <a:pt x="829460" y="5530"/>
                      <a:pt x="839303" y="15373"/>
                    </a:cubicBezTo>
                    <a:cubicBezTo>
                      <a:pt x="849146" y="25216"/>
                      <a:pt x="854675" y="38566"/>
                      <a:pt x="854675" y="52486"/>
                    </a:cubicBezTo>
                    <a:lnTo>
                      <a:pt x="854675" y="534187"/>
                    </a:lnTo>
                    <a:cubicBezTo>
                      <a:pt x="854675" y="563174"/>
                      <a:pt x="831177" y="586673"/>
                      <a:pt x="802189" y="586673"/>
                    </a:cubicBezTo>
                    <a:lnTo>
                      <a:pt x="52486" y="586673"/>
                    </a:lnTo>
                    <a:cubicBezTo>
                      <a:pt x="38566" y="586673"/>
                      <a:pt x="25216" y="581143"/>
                      <a:pt x="15373" y="571300"/>
                    </a:cubicBezTo>
                    <a:cubicBezTo>
                      <a:pt x="5530" y="561457"/>
                      <a:pt x="0" y="548107"/>
                      <a:pt x="0" y="534187"/>
                    </a:cubicBezTo>
                    <a:lnTo>
                      <a:pt x="0" y="52486"/>
                    </a:lnTo>
                    <a:cubicBezTo>
                      <a:pt x="0" y="38566"/>
                      <a:pt x="5530" y="25216"/>
                      <a:pt x="15373" y="15373"/>
                    </a:cubicBezTo>
                    <a:cubicBezTo>
                      <a:pt x="25216" y="5530"/>
                      <a:pt x="38566" y="0"/>
                      <a:pt x="52486" y="0"/>
                    </a:cubicBezTo>
                    <a:close/>
                  </a:path>
                </a:pathLst>
              </a:custGeom>
              <a:solidFill>
                <a:srgbClr val="BAD6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854675" cy="6438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66"/>
                  </a:lnSpc>
                </a:pPr>
                <a:r>
                  <a:rPr lang="en-US" sz="3047" b="true">
                    <a:solidFill>
                      <a:srgbClr val="000000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CLIENT i</a:t>
                </a:r>
              </a:p>
              <a:p>
                <a:pPr algn="ctr">
                  <a:lnSpc>
                    <a:spcPts val="2866"/>
                  </a:lnSpc>
                </a:pPr>
                <a:r>
                  <a:rPr lang="en-US" b="true" sz="2047">
                    <a:solidFill>
                      <a:srgbClr val="000000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i = 1 To nbDecideurs</a:t>
                </a:r>
              </a:p>
            </p:txBody>
          </p:sp>
        </p:grpSp>
        <p:sp>
          <p:nvSpPr>
            <p:cNvPr name="AutoShape 24" id="24"/>
            <p:cNvSpPr/>
            <p:nvPr/>
          </p:nvSpPr>
          <p:spPr>
            <a:xfrm flipV="true">
              <a:off x="9609291" y="2626273"/>
              <a:ext cx="2799764" cy="1583060"/>
            </a:xfrm>
            <a:prstGeom prst="line">
              <a:avLst/>
            </a:prstGeom>
            <a:ln cap="flat" w="50800">
              <a:solidFill>
                <a:srgbClr val="929292"/>
              </a:solidFill>
              <a:prstDash val="solid"/>
              <a:headEnd type="arrow" len="sm" w="med"/>
              <a:tailEnd type="arrow" len="sm" w="med"/>
            </a:ln>
          </p:spPr>
        </p:sp>
        <p:sp>
          <p:nvSpPr>
            <p:cNvPr name="AutoShape 25" id="25"/>
            <p:cNvSpPr/>
            <p:nvPr/>
          </p:nvSpPr>
          <p:spPr>
            <a:xfrm flipV="true">
              <a:off x="9394515" y="2266702"/>
              <a:ext cx="3014541" cy="1643239"/>
            </a:xfrm>
            <a:prstGeom prst="line">
              <a:avLst/>
            </a:prstGeom>
            <a:ln cap="flat" w="50800">
              <a:solidFill>
                <a:srgbClr val="929292"/>
              </a:solidFill>
              <a:prstDash val="solid"/>
              <a:headEnd type="arrow" len="sm" w="med"/>
              <a:tailEnd type="arrow" len="sm" w="med"/>
            </a:ln>
          </p:spPr>
        </p:sp>
        <p:grpSp>
          <p:nvGrpSpPr>
            <p:cNvPr name="Group 26" id="26"/>
            <p:cNvGrpSpPr/>
            <p:nvPr/>
          </p:nvGrpSpPr>
          <p:grpSpPr>
            <a:xfrm rot="0">
              <a:off x="11715167" y="5074275"/>
              <a:ext cx="2857286" cy="2876994"/>
              <a:chOff x="0" y="0"/>
              <a:chExt cx="1207631" cy="1215961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207631" cy="1215961"/>
              </a:xfrm>
              <a:custGeom>
                <a:avLst/>
                <a:gdLst/>
                <a:ahLst/>
                <a:cxnLst/>
                <a:rect r="r" b="b" t="t" l="l"/>
                <a:pathLst>
                  <a:path h="1215961" w="1207631">
                    <a:moveTo>
                      <a:pt x="603816" y="0"/>
                    </a:moveTo>
                    <a:cubicBezTo>
                      <a:pt x="270337" y="0"/>
                      <a:pt x="0" y="272202"/>
                      <a:pt x="0" y="607980"/>
                    </a:cubicBezTo>
                    <a:cubicBezTo>
                      <a:pt x="0" y="943759"/>
                      <a:pt x="270337" y="1215961"/>
                      <a:pt x="603816" y="1215961"/>
                    </a:cubicBezTo>
                    <a:cubicBezTo>
                      <a:pt x="937294" y="1215961"/>
                      <a:pt x="1207631" y="943759"/>
                      <a:pt x="1207631" y="607980"/>
                    </a:cubicBezTo>
                    <a:cubicBezTo>
                      <a:pt x="1207631" y="272202"/>
                      <a:pt x="937294" y="0"/>
                      <a:pt x="603816" y="0"/>
                    </a:cubicBezTo>
                    <a:close/>
                  </a:path>
                </a:pathLst>
              </a:custGeom>
              <a:solidFill>
                <a:srgbClr val="34C8A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113215" y="66371"/>
                <a:ext cx="981200" cy="1035593"/>
              </a:xfrm>
              <a:prstGeom prst="rect">
                <a:avLst/>
              </a:prstGeom>
            </p:spPr>
            <p:txBody>
              <a:bodyPr anchor="ctr" rtlCol="false" tIns="28724" lIns="28724" bIns="28724" rIns="28724"/>
              <a:lstStyle/>
              <a:p>
                <a:pPr algn="ctr" marL="0" indent="0" lvl="0">
                  <a:lnSpc>
                    <a:spcPts val="2726"/>
                  </a:lnSpc>
                  <a:spcBef>
                    <a:spcPct val="0"/>
                  </a:spcBef>
                </a:pPr>
                <a:r>
                  <a:rPr lang="en-US" sz="1947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Fonctions outils : </a:t>
                </a:r>
                <a:r>
                  <a:rPr lang="en-US" b="true" sz="1947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Manipulation des fichiers</a:t>
                </a:r>
                <a:r>
                  <a:rPr lang="en-US" sz="1947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8064953" y="7867783"/>
              <a:ext cx="3230136" cy="3233258"/>
              <a:chOff x="0" y="0"/>
              <a:chExt cx="926425" cy="92732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926425" cy="927320"/>
              </a:xfrm>
              <a:custGeom>
                <a:avLst/>
                <a:gdLst/>
                <a:ahLst/>
                <a:cxnLst/>
                <a:rect r="r" b="b" t="t" l="l"/>
                <a:pathLst>
                  <a:path h="927320" w="926425">
                    <a:moveTo>
                      <a:pt x="463212" y="0"/>
                    </a:moveTo>
                    <a:cubicBezTo>
                      <a:pt x="207387" y="0"/>
                      <a:pt x="0" y="207588"/>
                      <a:pt x="0" y="463660"/>
                    </a:cubicBezTo>
                    <a:cubicBezTo>
                      <a:pt x="0" y="719732"/>
                      <a:pt x="207387" y="927320"/>
                      <a:pt x="463212" y="927320"/>
                    </a:cubicBezTo>
                    <a:cubicBezTo>
                      <a:pt x="719038" y="927320"/>
                      <a:pt x="926425" y="719732"/>
                      <a:pt x="926425" y="463660"/>
                    </a:cubicBezTo>
                    <a:cubicBezTo>
                      <a:pt x="926425" y="207588"/>
                      <a:pt x="719038" y="0"/>
                      <a:pt x="463212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86852" y="39311"/>
                <a:ext cx="752720" cy="801073"/>
              </a:xfrm>
              <a:prstGeom prst="rect">
                <a:avLst/>
              </a:prstGeom>
            </p:spPr>
            <p:txBody>
              <a:bodyPr anchor="ctr" rtlCol="false" tIns="28724" lIns="28724" bIns="28724" rIns="28724"/>
              <a:lstStyle/>
              <a:p>
                <a:pPr algn="ctr" marL="0" indent="0" lvl="0">
                  <a:lnSpc>
                    <a:spcPts val="2726"/>
                  </a:lnSpc>
                  <a:spcBef>
                    <a:spcPct val="0"/>
                  </a:spcBef>
                </a:pPr>
                <a:r>
                  <a:rPr lang="en-US" b="true" sz="1947">
                    <a:solidFill>
                      <a:srgbClr val="000000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Stockage </a:t>
                </a:r>
                <a:r>
                  <a:rPr lang="en-US" sz="1947">
                    <a:solidFill>
                      <a:srgbClr val="000000"/>
                    </a:solidFill>
                    <a:latin typeface="Inter"/>
                    <a:ea typeface="Inter"/>
                    <a:cs typeface="Inter"/>
                    <a:sym typeface="Inter"/>
                  </a:rPr>
                  <a:t>des fichiers dans le</a:t>
                </a:r>
                <a:r>
                  <a:rPr lang="en-US" b="true" sz="1947">
                    <a:solidFill>
                      <a:srgbClr val="000000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 dossier de l’entreprise</a:t>
                </a:r>
              </a:p>
            </p:txBody>
          </p:sp>
        </p:grpSp>
        <p:sp>
          <p:nvSpPr>
            <p:cNvPr name="AutoShape 32" id="32"/>
            <p:cNvSpPr/>
            <p:nvPr/>
          </p:nvSpPr>
          <p:spPr>
            <a:xfrm>
              <a:off x="14415224" y="7169486"/>
              <a:ext cx="3844845" cy="1544001"/>
            </a:xfrm>
            <a:prstGeom prst="line">
              <a:avLst/>
            </a:prstGeom>
            <a:ln cap="flat" w="50800">
              <a:solidFill>
                <a:srgbClr val="929292"/>
              </a:solidFill>
              <a:prstDash val="solid"/>
              <a:headEnd type="arrow" len="sm" w="med"/>
              <a:tailEnd type="arrow" len="sm" w="med"/>
            </a:ln>
          </p:spPr>
        </p:sp>
        <p:sp>
          <p:nvSpPr>
            <p:cNvPr name="AutoShape 33" id="33"/>
            <p:cNvSpPr/>
            <p:nvPr/>
          </p:nvSpPr>
          <p:spPr>
            <a:xfrm flipH="true" flipV="true">
              <a:off x="9605509" y="5241119"/>
              <a:ext cx="2213134" cy="733142"/>
            </a:xfrm>
            <a:prstGeom prst="line">
              <a:avLst/>
            </a:prstGeom>
            <a:ln cap="flat" w="50800">
              <a:solidFill>
                <a:srgbClr val="929292"/>
              </a:solidFill>
              <a:prstDash val="solid"/>
              <a:headEnd type="arrow" len="sm" w="med"/>
              <a:tailEnd type="arrow" len="sm" w="med"/>
            </a:ln>
          </p:spPr>
        </p:sp>
        <p:sp>
          <p:nvSpPr>
            <p:cNvPr name="AutoShape 34" id="34"/>
            <p:cNvSpPr/>
            <p:nvPr/>
          </p:nvSpPr>
          <p:spPr>
            <a:xfrm flipH="true">
              <a:off x="13580648" y="9990809"/>
              <a:ext cx="4565126" cy="0"/>
            </a:xfrm>
            <a:prstGeom prst="line">
              <a:avLst/>
            </a:prstGeom>
            <a:ln cap="flat" w="50800">
              <a:solidFill>
                <a:srgbClr val="929292"/>
              </a:solidFill>
              <a:prstDash val="solid"/>
              <a:headEnd type="triangle" len="med" w="lg"/>
              <a:tailEnd type="none" len="sm" w="sm"/>
            </a:ln>
          </p:spPr>
        </p:sp>
        <p:grpSp>
          <p:nvGrpSpPr>
            <p:cNvPr name="Group 35" id="35"/>
            <p:cNvGrpSpPr/>
            <p:nvPr/>
          </p:nvGrpSpPr>
          <p:grpSpPr>
            <a:xfrm rot="0">
              <a:off x="18145773" y="2393478"/>
              <a:ext cx="3230136" cy="3233258"/>
              <a:chOff x="0" y="0"/>
              <a:chExt cx="926425" cy="92732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926425" cy="927320"/>
              </a:xfrm>
              <a:custGeom>
                <a:avLst/>
                <a:gdLst/>
                <a:ahLst/>
                <a:cxnLst/>
                <a:rect r="r" b="b" t="t" l="l"/>
                <a:pathLst>
                  <a:path h="927320" w="926425">
                    <a:moveTo>
                      <a:pt x="463212" y="0"/>
                    </a:moveTo>
                    <a:cubicBezTo>
                      <a:pt x="207387" y="0"/>
                      <a:pt x="0" y="207588"/>
                      <a:pt x="0" y="463660"/>
                    </a:cubicBezTo>
                    <a:cubicBezTo>
                      <a:pt x="0" y="719732"/>
                      <a:pt x="207387" y="927320"/>
                      <a:pt x="463212" y="927320"/>
                    </a:cubicBezTo>
                    <a:cubicBezTo>
                      <a:pt x="719038" y="927320"/>
                      <a:pt x="926425" y="719732"/>
                      <a:pt x="926425" y="463660"/>
                    </a:cubicBezTo>
                    <a:cubicBezTo>
                      <a:pt x="926425" y="207588"/>
                      <a:pt x="719038" y="0"/>
                      <a:pt x="463212" y="0"/>
                    </a:cubicBezTo>
                    <a:close/>
                  </a:path>
                </a:pathLst>
              </a:custGeom>
              <a:solidFill>
                <a:srgbClr val="FF914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86852" y="39311"/>
                <a:ext cx="752720" cy="801073"/>
              </a:xfrm>
              <a:prstGeom prst="rect">
                <a:avLst/>
              </a:prstGeom>
            </p:spPr>
            <p:txBody>
              <a:bodyPr anchor="ctr" rtlCol="false" tIns="28724" lIns="28724" bIns="28724" rIns="28724"/>
              <a:lstStyle/>
              <a:p>
                <a:pPr algn="ctr" marL="0" indent="0" lvl="0">
                  <a:lnSpc>
                    <a:spcPts val="2726"/>
                  </a:lnSpc>
                  <a:spcBef>
                    <a:spcPct val="0"/>
                  </a:spcBef>
                </a:pPr>
                <a:r>
                  <a:rPr lang="en-US" sz="1947">
                    <a:solidFill>
                      <a:srgbClr val="000000"/>
                    </a:solidFill>
                    <a:latin typeface="Inter"/>
                    <a:ea typeface="Inter"/>
                    <a:cs typeface="Inter"/>
                    <a:sym typeface="Inter"/>
                  </a:rPr>
                  <a:t>Application de création du</a:t>
                </a:r>
                <a:r>
                  <a:rPr lang="en-US" b="true" sz="1947">
                    <a:solidFill>
                      <a:srgbClr val="000000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 fichier de configuration</a:t>
                </a:r>
              </a:p>
            </p:txBody>
          </p:sp>
        </p:grpSp>
        <p:sp>
          <p:nvSpPr>
            <p:cNvPr name="AutoShape 38" id="38"/>
            <p:cNvSpPr/>
            <p:nvPr/>
          </p:nvSpPr>
          <p:spPr>
            <a:xfrm>
              <a:off x="19680021" y="5626735"/>
              <a:ext cx="0" cy="2241048"/>
            </a:xfrm>
            <a:prstGeom prst="line">
              <a:avLst/>
            </a:prstGeom>
            <a:ln cap="flat" w="50800">
              <a:solidFill>
                <a:srgbClr val="929292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39" id="39"/>
            <p:cNvSpPr/>
            <p:nvPr/>
          </p:nvSpPr>
          <p:spPr>
            <a:xfrm>
              <a:off x="9695653" y="4584018"/>
              <a:ext cx="8127653" cy="1928754"/>
            </a:xfrm>
            <a:prstGeom prst="line">
              <a:avLst/>
            </a:prstGeom>
            <a:ln cap="flat" w="38100">
              <a:solidFill>
                <a:srgbClr val="929292"/>
              </a:solidFill>
              <a:prstDash val="sysDot"/>
              <a:headEnd type="none" len="sm" w="sm"/>
              <a:tailEnd type="none" len="sm" w="sm"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7400264" y="0"/>
            <a:ext cx="887736" cy="887736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26"/>
                </a:lnSpc>
              </a:pPr>
              <a:r>
                <a:rPr lang="en-US" b="true" sz="29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00264" y="0"/>
            <a:ext cx="887736" cy="88773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26"/>
                </a:lnSpc>
              </a:pPr>
              <a:r>
                <a:rPr lang="en-US" b="true" sz="29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11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325943" y="0"/>
            <a:ext cx="9043567" cy="10287000"/>
          </a:xfrm>
          <a:custGeom>
            <a:avLst/>
            <a:gdLst/>
            <a:ahLst/>
            <a:cxnLst/>
            <a:rect r="r" b="b" t="t" l="l"/>
            <a:pathLst>
              <a:path h="10287000" w="9043567">
                <a:moveTo>
                  <a:pt x="0" y="0"/>
                </a:moveTo>
                <a:lnTo>
                  <a:pt x="9043567" y="0"/>
                </a:lnTo>
                <a:lnTo>
                  <a:pt x="904356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990" t="0" r="-5123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68686"/>
            <a:ext cx="6980925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Fonctionnement du serveur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6252" y="455502"/>
            <a:ext cx="14649993" cy="9375995"/>
          </a:xfrm>
          <a:custGeom>
            <a:avLst/>
            <a:gdLst/>
            <a:ahLst/>
            <a:cxnLst/>
            <a:rect r="r" b="b" t="t" l="l"/>
            <a:pathLst>
              <a:path h="9375995" w="14649993">
                <a:moveTo>
                  <a:pt x="0" y="0"/>
                </a:moveTo>
                <a:lnTo>
                  <a:pt x="14649993" y="0"/>
                </a:lnTo>
                <a:lnTo>
                  <a:pt x="14649993" y="9375996"/>
                </a:lnTo>
                <a:lnTo>
                  <a:pt x="0" y="937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77033" y="561975"/>
            <a:ext cx="7787379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5"/>
              </a:lnSpc>
            </a:pPr>
            <a:r>
              <a:rPr lang="en-US" sz="499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Les propositions : solution de configuration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772656" y="3144857"/>
            <a:ext cx="3191755" cy="1898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3588" indent="-231794" lvl="1">
              <a:lnSpc>
                <a:spcPts val="3006"/>
              </a:lnSpc>
              <a:buFont typeface="Arial"/>
              <a:buChar char="•"/>
            </a:pPr>
            <a:r>
              <a:rPr lang="en-US" b="true" sz="21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Standardisation du format des CSV</a:t>
            </a:r>
          </a:p>
          <a:p>
            <a:pPr algn="l" marL="463588" indent="-231794" lvl="1">
              <a:lnSpc>
                <a:spcPts val="3006"/>
              </a:lnSpc>
              <a:buFont typeface="Arial"/>
              <a:buChar char="•"/>
            </a:pPr>
            <a:r>
              <a:rPr lang="en-US" b="true" sz="21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Création d’une architecture de dossiers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400264" y="0"/>
            <a:ext cx="887736" cy="88773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26"/>
                </a:lnSpc>
              </a:pPr>
              <a:r>
                <a:rPr lang="en-US" b="true" sz="29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00264" y="0"/>
            <a:ext cx="887736" cy="88773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26"/>
                </a:lnSpc>
              </a:pPr>
              <a:r>
                <a:rPr lang="en-US" b="true" sz="29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13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33274" y="82980"/>
            <a:ext cx="14682043" cy="10204020"/>
          </a:xfrm>
          <a:custGeom>
            <a:avLst/>
            <a:gdLst/>
            <a:ahLst/>
            <a:cxnLst/>
            <a:rect r="r" b="b" t="t" l="l"/>
            <a:pathLst>
              <a:path h="10204020" w="14682043">
                <a:moveTo>
                  <a:pt x="0" y="0"/>
                </a:moveTo>
                <a:lnTo>
                  <a:pt x="14682043" y="0"/>
                </a:lnTo>
                <a:lnTo>
                  <a:pt x="14682043" y="10204020"/>
                </a:lnTo>
                <a:lnTo>
                  <a:pt x="0" y="10204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724698" y="7775950"/>
            <a:ext cx="1951075" cy="1546467"/>
            <a:chOff x="0" y="0"/>
            <a:chExt cx="2601433" cy="2061956"/>
          </a:xfrm>
        </p:grpSpPr>
        <p:sp>
          <p:nvSpPr>
            <p:cNvPr name="AutoShape 7" id="7"/>
            <p:cNvSpPr/>
            <p:nvPr/>
          </p:nvSpPr>
          <p:spPr>
            <a:xfrm>
              <a:off x="308429" y="0"/>
              <a:ext cx="992288" cy="1096663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 flipV="true">
              <a:off x="1300717" y="0"/>
              <a:ext cx="1017688" cy="1096663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1049038"/>
              <a:ext cx="2601433" cy="1012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46"/>
                </a:lnSpc>
                <a:spcBef>
                  <a:spcPct val="0"/>
                </a:spcBef>
              </a:pPr>
              <a:r>
                <a:rPr lang="en-US" b="true" sz="22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Code de l’application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-2449045">
            <a:off x="9688659" y="6982512"/>
            <a:ext cx="2287154" cy="1812851"/>
            <a:chOff x="0" y="0"/>
            <a:chExt cx="3049538" cy="2417134"/>
          </a:xfrm>
        </p:grpSpPr>
        <p:sp>
          <p:nvSpPr>
            <p:cNvPr name="AutoShape 11" id="11"/>
            <p:cNvSpPr/>
            <p:nvPr/>
          </p:nvSpPr>
          <p:spPr>
            <a:xfrm>
              <a:off x="361557" y="0"/>
              <a:ext cx="1163212" cy="1285566"/>
            </a:xfrm>
            <a:prstGeom prst="line">
              <a:avLst/>
            </a:prstGeom>
            <a:ln cap="flat" w="59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 flipV="true">
              <a:off x="1524769" y="0"/>
              <a:ext cx="1192987" cy="1285566"/>
            </a:xfrm>
            <a:prstGeom prst="line">
              <a:avLst/>
            </a:prstGeom>
            <a:ln cap="flat" w="59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1237941"/>
              <a:ext cx="3049538" cy="1179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88"/>
                </a:lnSpc>
                <a:spcBef>
                  <a:spcPct val="0"/>
                </a:spcBef>
              </a:pPr>
              <a:r>
                <a:rPr lang="en-US" b="true" sz="2634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Partie configuration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-1236689">
            <a:off x="12809611" y="5549033"/>
            <a:ext cx="2287154" cy="1812851"/>
            <a:chOff x="0" y="0"/>
            <a:chExt cx="3049538" cy="2417134"/>
          </a:xfrm>
        </p:grpSpPr>
        <p:sp>
          <p:nvSpPr>
            <p:cNvPr name="AutoShape 15" id="15"/>
            <p:cNvSpPr/>
            <p:nvPr/>
          </p:nvSpPr>
          <p:spPr>
            <a:xfrm>
              <a:off x="361557" y="0"/>
              <a:ext cx="1163212" cy="1285566"/>
            </a:xfrm>
            <a:prstGeom prst="line">
              <a:avLst/>
            </a:prstGeom>
            <a:ln cap="flat" w="59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 flipV="true">
              <a:off x="1524769" y="0"/>
              <a:ext cx="1192987" cy="1285566"/>
            </a:xfrm>
            <a:prstGeom prst="line">
              <a:avLst/>
            </a:prstGeom>
            <a:ln cap="flat" w="59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1237941"/>
              <a:ext cx="3049538" cy="1179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88"/>
                </a:lnSpc>
                <a:spcBef>
                  <a:spcPct val="0"/>
                </a:spcBef>
              </a:pPr>
              <a:r>
                <a:rPr lang="en-US" b="true" sz="2634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Sorties de l’application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63604" y="278227"/>
            <a:ext cx="8299583" cy="9730546"/>
          </a:xfrm>
          <a:custGeom>
            <a:avLst/>
            <a:gdLst/>
            <a:ahLst/>
            <a:cxnLst/>
            <a:rect r="r" b="b" t="t" l="l"/>
            <a:pathLst>
              <a:path h="9730546" w="8299583">
                <a:moveTo>
                  <a:pt x="0" y="0"/>
                </a:moveTo>
                <a:lnTo>
                  <a:pt x="8299583" y="0"/>
                </a:lnTo>
                <a:lnTo>
                  <a:pt x="8299583" y="9730546"/>
                </a:lnTo>
                <a:lnTo>
                  <a:pt x="0" y="973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555" t="-2535" r="-59924" b="-2287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8707943" y="9525189"/>
            <a:ext cx="9580057" cy="0"/>
          </a:xfrm>
          <a:prstGeom prst="line">
            <a:avLst/>
          </a:prstGeom>
          <a:ln cap="flat" w="123825">
            <a:solidFill>
              <a:srgbClr val="FF313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" id="4"/>
          <p:cNvSpPr/>
          <p:nvPr/>
        </p:nvSpPr>
        <p:spPr>
          <a:xfrm>
            <a:off x="4482683" y="2790362"/>
            <a:ext cx="5550073" cy="0"/>
          </a:xfrm>
          <a:prstGeom prst="line">
            <a:avLst/>
          </a:prstGeom>
          <a:ln cap="flat" w="38100">
            <a:solidFill>
              <a:srgbClr val="9976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5" id="5"/>
          <p:cNvSpPr txBox="true"/>
          <p:nvPr/>
        </p:nvSpPr>
        <p:spPr>
          <a:xfrm rot="0">
            <a:off x="238494" y="382465"/>
            <a:ext cx="6388082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IHM 1 : Saisie des préférences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163187" y="859161"/>
            <a:ext cx="3124813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ETAPE 1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4482683" y="5877105"/>
            <a:ext cx="3217655" cy="10405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8" id="8"/>
          <p:cNvSpPr txBox="true"/>
          <p:nvPr/>
        </p:nvSpPr>
        <p:spPr>
          <a:xfrm rot="0">
            <a:off x="1572946" y="5376690"/>
            <a:ext cx="2909737" cy="225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8820" indent="-199410" lvl="1">
              <a:lnSpc>
                <a:spcPts val="2586"/>
              </a:lnSpc>
              <a:buFont typeface="Arial"/>
              <a:buChar char="•"/>
            </a:pPr>
            <a:r>
              <a:rPr lang="en-US" b="true" sz="18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Indice de performance associé au critère 1 du décideur sélectionné</a:t>
            </a:r>
          </a:p>
          <a:p>
            <a:pPr algn="l" marL="398820" indent="-199410" lvl="1">
              <a:lnSpc>
                <a:spcPts val="2586"/>
              </a:lnSpc>
              <a:buFont typeface="Arial"/>
              <a:buChar char="•"/>
            </a:pPr>
            <a:r>
              <a:rPr lang="en-US" b="true" sz="18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Regroupe l’évaluation des alternatives selon le critère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36265" y="2451872"/>
            <a:ext cx="2246418" cy="63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6"/>
              </a:lnSpc>
              <a:spcBef>
                <a:spcPct val="0"/>
              </a:spcBef>
            </a:pPr>
            <a:r>
              <a:rPr lang="en-US" b="true" sz="18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Choix du décideur dans la liste</a:t>
            </a:r>
          </a:p>
        </p:txBody>
      </p:sp>
      <p:sp>
        <p:nvSpPr>
          <p:cNvPr name="AutoShape 10" id="10"/>
          <p:cNvSpPr/>
          <p:nvPr/>
        </p:nvSpPr>
        <p:spPr>
          <a:xfrm>
            <a:off x="3359474" y="3090752"/>
            <a:ext cx="0" cy="2324038"/>
          </a:xfrm>
          <a:prstGeom prst="line">
            <a:avLst/>
          </a:prstGeom>
          <a:ln cap="flat" w="38100">
            <a:solidFill>
              <a:srgbClr val="9976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 flipH="true" flipV="true">
            <a:off x="13808850" y="4196818"/>
            <a:ext cx="164190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2" id="12"/>
          <p:cNvSpPr txBox="true"/>
          <p:nvPr/>
        </p:nvSpPr>
        <p:spPr>
          <a:xfrm rot="0">
            <a:off x="15602384" y="4020253"/>
            <a:ext cx="2246418" cy="315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6"/>
              </a:lnSpc>
              <a:spcBef>
                <a:spcPct val="0"/>
              </a:spcBef>
            </a:pPr>
            <a:r>
              <a:rPr lang="en-US" b="true" sz="18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1 critère = 1 KPI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602384" y="5738527"/>
            <a:ext cx="1846362" cy="96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6"/>
              </a:lnSpc>
              <a:spcBef>
                <a:spcPct val="0"/>
              </a:spcBef>
            </a:pPr>
            <a:r>
              <a:rPr lang="en-US" b="true" sz="18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[1, 2] =&gt; rouge</a:t>
            </a:r>
          </a:p>
          <a:p>
            <a:pPr algn="l">
              <a:lnSpc>
                <a:spcPts val="2586"/>
              </a:lnSpc>
              <a:spcBef>
                <a:spcPct val="0"/>
              </a:spcBef>
            </a:pPr>
            <a:r>
              <a:rPr lang="en-US" b="true" sz="18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[3, 6] =&gt; orange</a:t>
            </a:r>
          </a:p>
          <a:p>
            <a:pPr algn="l">
              <a:lnSpc>
                <a:spcPts val="2586"/>
              </a:lnSpc>
              <a:spcBef>
                <a:spcPct val="0"/>
              </a:spcBef>
            </a:pPr>
            <a:r>
              <a:rPr lang="en-US" b="true" sz="18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[7, 9] =&gt; vert</a:t>
            </a:r>
          </a:p>
        </p:txBody>
      </p:sp>
      <p:sp>
        <p:nvSpPr>
          <p:cNvPr name="AutoShape 14" id="14"/>
          <p:cNvSpPr/>
          <p:nvPr/>
        </p:nvSpPr>
        <p:spPr>
          <a:xfrm flipH="true" flipV="true">
            <a:off x="14667504" y="4621476"/>
            <a:ext cx="934880" cy="161746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 flipH="true">
            <a:off x="14667504" y="6238942"/>
            <a:ext cx="934880" cy="163271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6" id="16"/>
          <p:cNvSpPr/>
          <p:nvPr/>
        </p:nvSpPr>
        <p:spPr>
          <a:xfrm flipV="true">
            <a:off x="4482683" y="6917678"/>
            <a:ext cx="308262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17400264" y="0"/>
            <a:ext cx="887736" cy="88773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26"/>
                </a:lnSpc>
              </a:pPr>
              <a:r>
                <a:rPr lang="en-US" b="true" sz="29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0" y="5979582"/>
            <a:ext cx="7889754" cy="3545607"/>
          </a:xfrm>
          <a:prstGeom prst="line">
            <a:avLst/>
          </a:prstGeom>
          <a:ln cap="flat" w="123825">
            <a:solidFill>
              <a:srgbClr val="FF3131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" id="3"/>
          <p:cNvGrpSpPr/>
          <p:nvPr/>
        </p:nvGrpSpPr>
        <p:grpSpPr>
          <a:xfrm rot="0">
            <a:off x="3313888" y="1192227"/>
            <a:ext cx="11660224" cy="4787356"/>
            <a:chOff x="0" y="0"/>
            <a:chExt cx="3071005" cy="12608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71006" cy="1260867"/>
            </a:xfrm>
            <a:custGeom>
              <a:avLst/>
              <a:gdLst/>
              <a:ahLst/>
              <a:cxnLst/>
              <a:rect r="r" b="b" t="t" l="l"/>
              <a:pathLst>
                <a:path h="1260867" w="3071006">
                  <a:moveTo>
                    <a:pt x="0" y="0"/>
                  </a:moveTo>
                  <a:lnTo>
                    <a:pt x="3071006" y="0"/>
                  </a:lnTo>
                  <a:lnTo>
                    <a:pt x="3071006" y="1260867"/>
                  </a:lnTo>
                  <a:lnTo>
                    <a:pt x="0" y="1260867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071005" cy="1318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5917190" y="4051066"/>
            <a:ext cx="7910562" cy="4762"/>
          </a:xfrm>
          <a:prstGeom prst="line">
            <a:avLst/>
          </a:prstGeom>
          <a:ln cap="rnd" w="19050">
            <a:solidFill>
              <a:srgbClr val="000000">
                <a:alpha val="34902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5917190" y="3972485"/>
            <a:ext cx="166688" cy="166688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9976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627667" y="3982010"/>
            <a:ext cx="166688" cy="166688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884F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213211" y="3982010"/>
            <a:ext cx="166688" cy="166688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9976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661064" y="3967722"/>
            <a:ext cx="166688" cy="166688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884FA"/>
            </a:solidFill>
          </p:spPr>
        </p:sp>
      </p:grpSp>
      <p:sp>
        <p:nvSpPr>
          <p:cNvPr name="AutoShape 15" id="15"/>
          <p:cNvSpPr/>
          <p:nvPr/>
        </p:nvSpPr>
        <p:spPr>
          <a:xfrm>
            <a:off x="10053142" y="5979582"/>
            <a:ext cx="8234858" cy="3545607"/>
          </a:xfrm>
          <a:prstGeom prst="line">
            <a:avLst/>
          </a:prstGeom>
          <a:ln cap="flat" w="123825">
            <a:solidFill>
              <a:srgbClr val="FF313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6" id="16"/>
          <p:cNvSpPr txBox="true"/>
          <p:nvPr/>
        </p:nvSpPr>
        <p:spPr>
          <a:xfrm rot="0">
            <a:off x="4465500" y="4391966"/>
            <a:ext cx="2903380" cy="134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Récupération des préférences des décideurs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68880" y="2413251"/>
            <a:ext cx="2684262" cy="134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Transformation des préférences en matrices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66850" y="4391966"/>
            <a:ext cx="2459408" cy="88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Agrégation des matrices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14704" y="2870451"/>
            <a:ext cx="2459408" cy="88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Calcul du classement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10295" y="1377566"/>
            <a:ext cx="3285910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Modèle d’aide à la décision Julia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05537" y="859161"/>
            <a:ext cx="3182463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0"/>
              </a:lnSpc>
            </a:pPr>
            <a:r>
              <a:rPr lang="en-US" sz="5675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ETAPE 2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7400264" y="0"/>
            <a:ext cx="887736" cy="88773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26"/>
                </a:lnSpc>
              </a:pPr>
              <a:r>
                <a:rPr lang="en-US" b="true" sz="29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03124" y="323562"/>
            <a:ext cx="8375239" cy="9639877"/>
          </a:xfrm>
          <a:custGeom>
            <a:avLst/>
            <a:gdLst/>
            <a:ahLst/>
            <a:cxnLst/>
            <a:rect r="r" b="b" t="t" l="l"/>
            <a:pathLst>
              <a:path h="9639877" w="8375239">
                <a:moveTo>
                  <a:pt x="0" y="0"/>
                </a:moveTo>
                <a:lnTo>
                  <a:pt x="8375239" y="0"/>
                </a:lnTo>
                <a:lnTo>
                  <a:pt x="8375239" y="9639876"/>
                </a:lnTo>
                <a:lnTo>
                  <a:pt x="0" y="9639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7002" t="-2501" r="-55831" b="-1511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0" y="6731380"/>
            <a:ext cx="5474969" cy="2793810"/>
          </a:xfrm>
          <a:prstGeom prst="line">
            <a:avLst/>
          </a:prstGeom>
          <a:ln cap="flat" w="123825">
            <a:solidFill>
              <a:srgbClr val="FF313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" id="4"/>
          <p:cNvSpPr/>
          <p:nvPr/>
        </p:nvSpPr>
        <p:spPr>
          <a:xfrm>
            <a:off x="7111830" y="9470194"/>
            <a:ext cx="7156802" cy="27498"/>
          </a:xfrm>
          <a:prstGeom prst="line">
            <a:avLst/>
          </a:prstGeom>
          <a:ln cap="flat" w="123825">
            <a:solidFill>
              <a:srgbClr val="FF3131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" id="5"/>
          <p:cNvSpPr/>
          <p:nvPr/>
        </p:nvSpPr>
        <p:spPr>
          <a:xfrm flipH="true">
            <a:off x="12783836" y="2436840"/>
            <a:ext cx="1396339" cy="0"/>
          </a:xfrm>
          <a:prstGeom prst="line">
            <a:avLst/>
          </a:prstGeom>
          <a:ln cap="flat" w="38100">
            <a:solidFill>
              <a:srgbClr val="143C3C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6" id="6"/>
          <p:cNvSpPr txBox="true"/>
          <p:nvPr/>
        </p:nvSpPr>
        <p:spPr>
          <a:xfrm rot="0">
            <a:off x="14231060" y="8918343"/>
            <a:ext cx="4056940" cy="1046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6"/>
              </a:lnSpc>
              <a:spcBef>
                <a:spcPct val="0"/>
              </a:spcBef>
            </a:pPr>
            <a:r>
              <a:rPr lang="en-US" b="true" sz="30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Enregistrement de l’alternative retenue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8494" y="382465"/>
            <a:ext cx="5164630" cy="251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IHM 2 : Visualisation du classement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31060" y="571500"/>
            <a:ext cx="3426375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ETAPE 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122931" y="1936425"/>
            <a:ext cx="2909737" cy="96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6"/>
              </a:lnSpc>
              <a:spcBef>
                <a:spcPct val="0"/>
              </a:spcBef>
            </a:pPr>
            <a:r>
              <a:rPr lang="en-US" b="true" sz="18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Indices de performance présents dans la page précédente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7400264" y="0"/>
            <a:ext cx="887736" cy="88773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26"/>
                </a:lnSpc>
              </a:pPr>
              <a:r>
                <a:rPr lang="en-US" b="true" sz="29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16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flipH="true">
            <a:off x="11886864" y="7995099"/>
            <a:ext cx="2032322" cy="0"/>
          </a:xfrm>
          <a:prstGeom prst="line">
            <a:avLst/>
          </a:prstGeom>
          <a:ln cap="flat" w="38100">
            <a:solidFill>
              <a:srgbClr val="143C3C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4" id="14"/>
          <p:cNvSpPr txBox="true"/>
          <p:nvPr/>
        </p:nvSpPr>
        <p:spPr>
          <a:xfrm rot="0">
            <a:off x="13861942" y="7656609"/>
            <a:ext cx="3397358" cy="63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6"/>
              </a:lnSpc>
              <a:spcBef>
                <a:spcPct val="0"/>
              </a:spcBef>
            </a:pPr>
            <a:r>
              <a:rPr lang="en-US" b="true" sz="18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Superviseur = décideur qui doit valider l’alternative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19317" y="4457700"/>
            <a:ext cx="6249366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00"/>
              </a:lnSpc>
            </a:pPr>
            <a:r>
              <a:rPr lang="en-US" sz="8500" b="true">
                <a:solidFill>
                  <a:srgbClr val="9976FF"/>
                </a:solidFill>
                <a:latin typeface="Arimo Bold"/>
                <a:ea typeface="Arimo Bold"/>
                <a:cs typeface="Arimo Bold"/>
                <a:sym typeface="Arimo Bold"/>
              </a:rPr>
              <a:t>Conclusion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400264" y="0"/>
            <a:ext cx="887736" cy="88773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26"/>
                </a:lnSpc>
              </a:pPr>
              <a:r>
                <a:rPr lang="en-US" b="true" sz="29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67002" y="1252631"/>
            <a:ext cx="6953997" cy="8005669"/>
            <a:chOff x="0" y="0"/>
            <a:chExt cx="9271995" cy="1067422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9271995" cy="140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159"/>
                </a:lnSpc>
              </a:pPr>
              <a:r>
                <a:rPr lang="en-US" b="true" sz="6799">
                  <a:solidFill>
                    <a:srgbClr val="9976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Synthèse</a:t>
              </a:r>
            </a:p>
          </p:txBody>
        </p:sp>
        <p:grpSp>
          <p:nvGrpSpPr>
            <p:cNvPr name="Group 4" id="4"/>
            <p:cNvGrpSpPr/>
            <p:nvPr/>
          </p:nvGrpSpPr>
          <p:grpSpPr>
            <a:xfrm rot="0">
              <a:off x="0" y="2250455"/>
              <a:ext cx="9271995" cy="1289014"/>
              <a:chOff x="0" y="0"/>
              <a:chExt cx="4750317" cy="6604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750317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4750317">
                    <a:moveTo>
                      <a:pt x="4625857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4625857" y="0"/>
                    </a:lnTo>
                    <a:cubicBezTo>
                      <a:pt x="4694437" y="0"/>
                      <a:pt x="4750317" y="55880"/>
                      <a:pt x="4750317" y="124460"/>
                    </a:cubicBezTo>
                    <a:lnTo>
                      <a:pt x="4750317" y="535940"/>
                    </a:lnTo>
                    <a:cubicBezTo>
                      <a:pt x="4750317" y="604520"/>
                      <a:pt x="4694437" y="660400"/>
                      <a:pt x="4625857" y="660400"/>
                    </a:cubicBezTo>
                    <a:close/>
                  </a:path>
                </a:pathLst>
              </a:custGeom>
              <a:solidFill>
                <a:srgbClr val="F1F1F1">
                  <a:alpha val="63922"/>
                </a:srgbClr>
              </a:solid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451378" y="2610058"/>
              <a:ext cx="8369239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Conception d’une application Excel en VBA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0" y="4032268"/>
              <a:ext cx="9271995" cy="1289014"/>
              <a:chOff x="0" y="0"/>
              <a:chExt cx="4750317" cy="660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750317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4750317">
                    <a:moveTo>
                      <a:pt x="4625857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4625857" y="0"/>
                    </a:lnTo>
                    <a:cubicBezTo>
                      <a:pt x="4694437" y="0"/>
                      <a:pt x="4750317" y="55880"/>
                      <a:pt x="4750317" y="124460"/>
                    </a:cubicBezTo>
                    <a:lnTo>
                      <a:pt x="4750317" y="535940"/>
                    </a:lnTo>
                    <a:cubicBezTo>
                      <a:pt x="4750317" y="604520"/>
                      <a:pt x="4694437" y="660400"/>
                      <a:pt x="4625857" y="660400"/>
                    </a:cubicBezTo>
                    <a:close/>
                  </a:path>
                </a:pathLst>
              </a:custGeom>
              <a:solidFill>
                <a:srgbClr val="F1F1F1">
                  <a:alpha val="63922"/>
                </a:srgbClr>
              </a:solid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451378" y="4112472"/>
              <a:ext cx="8369239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Développement d’un serveur utilisable avec un modèle d’aide à la décision en Julia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0" y="5816583"/>
              <a:ext cx="9271995" cy="1289014"/>
              <a:chOff x="0" y="0"/>
              <a:chExt cx="4750317" cy="660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750317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4750317">
                    <a:moveTo>
                      <a:pt x="4625857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4625857" y="0"/>
                    </a:lnTo>
                    <a:cubicBezTo>
                      <a:pt x="4694437" y="0"/>
                      <a:pt x="4750317" y="55880"/>
                      <a:pt x="4750317" y="124460"/>
                    </a:cubicBezTo>
                    <a:lnTo>
                      <a:pt x="4750317" y="535940"/>
                    </a:lnTo>
                    <a:cubicBezTo>
                      <a:pt x="4750317" y="604520"/>
                      <a:pt x="4694437" y="660400"/>
                      <a:pt x="4625857" y="660400"/>
                    </a:cubicBezTo>
                    <a:close/>
                  </a:path>
                </a:pathLst>
              </a:custGeom>
              <a:solidFill>
                <a:srgbClr val="F1F1F1">
                  <a:alpha val="63922"/>
                </a:srgbClr>
              </a:solid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451378" y="6176186"/>
              <a:ext cx="8369239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Construit une interface web dynamique</a:t>
              </a: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0" y="7600897"/>
              <a:ext cx="9271995" cy="1289014"/>
              <a:chOff x="0" y="0"/>
              <a:chExt cx="4750317" cy="660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750317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4750317">
                    <a:moveTo>
                      <a:pt x="4625857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4625857" y="0"/>
                    </a:lnTo>
                    <a:cubicBezTo>
                      <a:pt x="4694437" y="0"/>
                      <a:pt x="4750317" y="55880"/>
                      <a:pt x="4750317" y="124460"/>
                    </a:cubicBezTo>
                    <a:lnTo>
                      <a:pt x="4750317" y="535940"/>
                    </a:lnTo>
                    <a:cubicBezTo>
                      <a:pt x="4750317" y="604520"/>
                      <a:pt x="4694437" y="660400"/>
                      <a:pt x="4625857" y="660400"/>
                    </a:cubicBezTo>
                    <a:close/>
                  </a:path>
                </a:pathLst>
              </a:custGeom>
              <a:solidFill>
                <a:srgbClr val="F1F1F1">
                  <a:alpha val="63922"/>
                </a:srgbClr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451378" y="7681101"/>
              <a:ext cx="8369239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Mise en place d’une structure de fichiers robuste</a:t>
              </a:r>
            </a:p>
          </p:txBody>
        </p:sp>
        <p:grpSp>
          <p:nvGrpSpPr>
            <p:cNvPr name="Group 16" id="16"/>
            <p:cNvGrpSpPr/>
            <p:nvPr/>
          </p:nvGrpSpPr>
          <p:grpSpPr>
            <a:xfrm rot="0">
              <a:off x="0" y="9385211"/>
              <a:ext cx="9271995" cy="1289014"/>
              <a:chOff x="0" y="0"/>
              <a:chExt cx="4750317" cy="6604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750317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4750317">
                    <a:moveTo>
                      <a:pt x="4625857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4625857" y="0"/>
                    </a:lnTo>
                    <a:cubicBezTo>
                      <a:pt x="4694437" y="0"/>
                      <a:pt x="4750317" y="55880"/>
                      <a:pt x="4750317" y="124460"/>
                    </a:cubicBezTo>
                    <a:lnTo>
                      <a:pt x="4750317" y="535940"/>
                    </a:lnTo>
                    <a:cubicBezTo>
                      <a:pt x="4750317" y="604520"/>
                      <a:pt x="4694437" y="660400"/>
                      <a:pt x="4625857" y="660400"/>
                    </a:cubicBezTo>
                    <a:close/>
                  </a:path>
                </a:pathLst>
              </a:custGeom>
              <a:solidFill>
                <a:srgbClr val="F1F1F1">
                  <a:alpha val="63922"/>
                </a:srgbClr>
              </a:solid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451378" y="9465415"/>
              <a:ext cx="8369239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Intégré les différents composants de manière fluide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400264" y="0"/>
            <a:ext cx="887736" cy="88773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26"/>
                </a:lnSpc>
              </a:pPr>
              <a:r>
                <a:rPr lang="en-US" b="true" sz="29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18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71071" y="1000125"/>
            <a:ext cx="6953997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b="true" sz="6799">
                <a:solidFill>
                  <a:srgbClr val="F884FA"/>
                </a:solidFill>
                <a:latin typeface="Arimo Bold"/>
                <a:ea typeface="Arimo Bold"/>
                <a:cs typeface="Arimo Bold"/>
                <a:sym typeface="Arimo Bold"/>
              </a:rPr>
              <a:t>Apports professionnels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71071" y="3628381"/>
            <a:ext cx="6953997" cy="966761"/>
            <a:chOff x="0" y="0"/>
            <a:chExt cx="4750317" cy="660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50317" cy="660400"/>
            </a:xfrm>
            <a:custGeom>
              <a:avLst/>
              <a:gdLst/>
              <a:ahLst/>
              <a:cxnLst/>
              <a:rect r="r" b="b" t="t" l="l"/>
              <a:pathLst>
                <a:path h="660400" w="4750317">
                  <a:moveTo>
                    <a:pt x="4625857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625857" y="0"/>
                  </a:lnTo>
                  <a:cubicBezTo>
                    <a:pt x="4694437" y="0"/>
                    <a:pt x="4750317" y="55880"/>
                    <a:pt x="4750317" y="124460"/>
                  </a:cubicBezTo>
                  <a:lnTo>
                    <a:pt x="4750317" y="535940"/>
                  </a:lnTo>
                  <a:cubicBezTo>
                    <a:pt x="4750317" y="604520"/>
                    <a:pt x="4694437" y="660400"/>
                    <a:pt x="4625857" y="660400"/>
                  </a:cubicBezTo>
                  <a:close/>
                </a:path>
              </a:pathLst>
            </a:custGeom>
            <a:solidFill>
              <a:srgbClr val="F1F1F1">
                <a:alpha val="63922"/>
              </a:srgbClr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2109605" y="3674246"/>
            <a:ext cx="6276929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Développement web HTML/CSS, JavaScript, Jinja2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71071" y="4965679"/>
            <a:ext cx="6953997" cy="966761"/>
            <a:chOff x="0" y="0"/>
            <a:chExt cx="4750317" cy="660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50317" cy="660400"/>
            </a:xfrm>
            <a:custGeom>
              <a:avLst/>
              <a:gdLst/>
              <a:ahLst/>
              <a:cxnLst/>
              <a:rect r="r" b="b" t="t" l="l"/>
              <a:pathLst>
                <a:path h="660400" w="4750317">
                  <a:moveTo>
                    <a:pt x="4625857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625857" y="0"/>
                  </a:lnTo>
                  <a:cubicBezTo>
                    <a:pt x="4694437" y="0"/>
                    <a:pt x="4750317" y="55880"/>
                    <a:pt x="4750317" y="124460"/>
                  </a:cubicBezTo>
                  <a:lnTo>
                    <a:pt x="4750317" y="535940"/>
                  </a:lnTo>
                  <a:cubicBezTo>
                    <a:pt x="4750317" y="604520"/>
                    <a:pt x="4694437" y="660400"/>
                    <a:pt x="4625857" y="660400"/>
                  </a:cubicBezTo>
                  <a:close/>
                </a:path>
              </a:pathLst>
            </a:custGeom>
            <a:solidFill>
              <a:srgbClr val="F1F1F1">
                <a:alpha val="63922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109605" y="5011544"/>
            <a:ext cx="6276929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Programmation backend en Python avec Flask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771071" y="6302977"/>
            <a:ext cx="6953997" cy="966761"/>
            <a:chOff x="0" y="0"/>
            <a:chExt cx="4750317" cy="660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50317" cy="660400"/>
            </a:xfrm>
            <a:custGeom>
              <a:avLst/>
              <a:gdLst/>
              <a:ahLst/>
              <a:cxnLst/>
              <a:rect r="r" b="b" t="t" l="l"/>
              <a:pathLst>
                <a:path h="660400" w="4750317">
                  <a:moveTo>
                    <a:pt x="4625857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625857" y="0"/>
                  </a:lnTo>
                  <a:cubicBezTo>
                    <a:pt x="4694437" y="0"/>
                    <a:pt x="4750317" y="55880"/>
                    <a:pt x="4750317" y="124460"/>
                  </a:cubicBezTo>
                  <a:lnTo>
                    <a:pt x="4750317" y="535940"/>
                  </a:lnTo>
                  <a:cubicBezTo>
                    <a:pt x="4750317" y="604520"/>
                    <a:pt x="4694437" y="660400"/>
                    <a:pt x="4625857" y="660400"/>
                  </a:cubicBezTo>
                  <a:close/>
                </a:path>
              </a:pathLst>
            </a:custGeom>
            <a:solidFill>
              <a:srgbClr val="F1F1F1">
                <a:alpha val="63922"/>
              </a:srgbClr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109605" y="6558392"/>
            <a:ext cx="627692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Programmation en Julia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55022" y="1000125"/>
            <a:ext cx="6953997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b="true" sz="6799">
                <a:solidFill>
                  <a:srgbClr val="9976FF"/>
                </a:solidFill>
                <a:latin typeface="Arimo Bold"/>
                <a:ea typeface="Arimo Bold"/>
                <a:cs typeface="Arimo Bold"/>
                <a:sym typeface="Arimo Bold"/>
              </a:rPr>
              <a:t>Apports humains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55022" y="3628381"/>
            <a:ext cx="6953997" cy="966761"/>
            <a:chOff x="0" y="0"/>
            <a:chExt cx="4750317" cy="660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50317" cy="660400"/>
            </a:xfrm>
            <a:custGeom>
              <a:avLst/>
              <a:gdLst/>
              <a:ahLst/>
              <a:cxnLst/>
              <a:rect r="r" b="b" t="t" l="l"/>
              <a:pathLst>
                <a:path h="660400" w="4750317">
                  <a:moveTo>
                    <a:pt x="4625857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625857" y="0"/>
                  </a:lnTo>
                  <a:cubicBezTo>
                    <a:pt x="4694437" y="0"/>
                    <a:pt x="4750317" y="55880"/>
                    <a:pt x="4750317" y="124460"/>
                  </a:cubicBezTo>
                  <a:lnTo>
                    <a:pt x="4750317" y="535940"/>
                  </a:lnTo>
                  <a:cubicBezTo>
                    <a:pt x="4750317" y="604520"/>
                    <a:pt x="4694437" y="660400"/>
                    <a:pt x="4625857" y="660400"/>
                  </a:cubicBezTo>
                  <a:close/>
                </a:path>
              </a:pathLst>
            </a:custGeom>
            <a:solidFill>
              <a:srgbClr val="F1F1F1">
                <a:alpha val="63922"/>
              </a:srgbClr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993556" y="3674246"/>
            <a:ext cx="6276929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Découverte du fonctionnement d’un projet de recherche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655022" y="4965679"/>
            <a:ext cx="6953997" cy="966761"/>
            <a:chOff x="0" y="0"/>
            <a:chExt cx="4750317" cy="660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50317" cy="660400"/>
            </a:xfrm>
            <a:custGeom>
              <a:avLst/>
              <a:gdLst/>
              <a:ahLst/>
              <a:cxnLst/>
              <a:rect r="r" b="b" t="t" l="l"/>
              <a:pathLst>
                <a:path h="660400" w="4750317">
                  <a:moveTo>
                    <a:pt x="4625857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625857" y="0"/>
                  </a:lnTo>
                  <a:cubicBezTo>
                    <a:pt x="4694437" y="0"/>
                    <a:pt x="4750317" y="55880"/>
                    <a:pt x="4750317" y="124460"/>
                  </a:cubicBezTo>
                  <a:lnTo>
                    <a:pt x="4750317" y="535940"/>
                  </a:lnTo>
                  <a:cubicBezTo>
                    <a:pt x="4750317" y="604520"/>
                    <a:pt x="4694437" y="660400"/>
                    <a:pt x="4625857" y="660400"/>
                  </a:cubicBezTo>
                  <a:close/>
                </a:path>
              </a:pathLst>
            </a:custGeom>
            <a:solidFill>
              <a:srgbClr val="F1F1F1">
                <a:alpha val="63922"/>
              </a:srgbClr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993556" y="5221094"/>
            <a:ext cx="627692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Gestion Agile (adaptabilité aux changements)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655022" y="6302977"/>
            <a:ext cx="6953997" cy="966761"/>
            <a:chOff x="0" y="0"/>
            <a:chExt cx="4750317" cy="660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750317" cy="660400"/>
            </a:xfrm>
            <a:custGeom>
              <a:avLst/>
              <a:gdLst/>
              <a:ahLst/>
              <a:cxnLst/>
              <a:rect r="r" b="b" t="t" l="l"/>
              <a:pathLst>
                <a:path h="660400" w="4750317">
                  <a:moveTo>
                    <a:pt x="4625857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625857" y="0"/>
                  </a:lnTo>
                  <a:cubicBezTo>
                    <a:pt x="4694437" y="0"/>
                    <a:pt x="4750317" y="55880"/>
                    <a:pt x="4750317" y="124460"/>
                  </a:cubicBezTo>
                  <a:lnTo>
                    <a:pt x="4750317" y="535940"/>
                  </a:lnTo>
                  <a:cubicBezTo>
                    <a:pt x="4750317" y="604520"/>
                    <a:pt x="4694437" y="660400"/>
                    <a:pt x="4625857" y="660400"/>
                  </a:cubicBezTo>
                  <a:close/>
                </a:path>
              </a:pathLst>
            </a:custGeom>
            <a:solidFill>
              <a:srgbClr val="F1F1F1">
                <a:alpha val="63922"/>
              </a:srgbClr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993556" y="6348842"/>
            <a:ext cx="6276929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Renforcement du désir de travailler dans la recherche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771071" y="7641212"/>
            <a:ext cx="6953997" cy="966761"/>
            <a:chOff x="0" y="0"/>
            <a:chExt cx="4750317" cy="660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750317" cy="660400"/>
            </a:xfrm>
            <a:custGeom>
              <a:avLst/>
              <a:gdLst/>
              <a:ahLst/>
              <a:cxnLst/>
              <a:rect r="r" b="b" t="t" l="l"/>
              <a:pathLst>
                <a:path h="660400" w="4750317">
                  <a:moveTo>
                    <a:pt x="4625857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625857" y="0"/>
                  </a:lnTo>
                  <a:cubicBezTo>
                    <a:pt x="4694437" y="0"/>
                    <a:pt x="4750317" y="55880"/>
                    <a:pt x="4750317" y="124460"/>
                  </a:cubicBezTo>
                  <a:lnTo>
                    <a:pt x="4750317" y="535940"/>
                  </a:lnTo>
                  <a:cubicBezTo>
                    <a:pt x="4750317" y="604520"/>
                    <a:pt x="4694437" y="660400"/>
                    <a:pt x="4625857" y="660400"/>
                  </a:cubicBezTo>
                  <a:close/>
                </a:path>
              </a:pathLst>
            </a:custGeom>
            <a:solidFill>
              <a:srgbClr val="F1F1F1">
                <a:alpha val="63922"/>
              </a:srgbClr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879061" y="7899010"/>
            <a:ext cx="6738017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Utilisation de VBA pour automatiser les tâches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771071" y="8978510"/>
            <a:ext cx="6953997" cy="966761"/>
            <a:chOff x="0" y="0"/>
            <a:chExt cx="4750317" cy="660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50317" cy="660400"/>
            </a:xfrm>
            <a:custGeom>
              <a:avLst/>
              <a:gdLst/>
              <a:ahLst/>
              <a:cxnLst/>
              <a:rect r="r" b="b" t="t" l="l"/>
              <a:pathLst>
                <a:path h="660400" w="4750317">
                  <a:moveTo>
                    <a:pt x="4625857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625857" y="0"/>
                  </a:lnTo>
                  <a:cubicBezTo>
                    <a:pt x="4694437" y="0"/>
                    <a:pt x="4750317" y="55880"/>
                    <a:pt x="4750317" y="124460"/>
                  </a:cubicBezTo>
                  <a:lnTo>
                    <a:pt x="4750317" y="535940"/>
                  </a:lnTo>
                  <a:cubicBezTo>
                    <a:pt x="4750317" y="604520"/>
                    <a:pt x="4694437" y="660400"/>
                    <a:pt x="4625857" y="660400"/>
                  </a:cubicBezTo>
                  <a:close/>
                </a:path>
              </a:pathLst>
            </a:custGeom>
            <a:solidFill>
              <a:srgbClr val="F1F1F1">
                <a:alpha val="63922"/>
              </a:srgbClr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2109605" y="9024375"/>
            <a:ext cx="6276929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Mise en place d’un serveur WSGI =&gt; déploiement local et stable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7400264" y="0"/>
            <a:ext cx="887736" cy="887736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26"/>
                </a:lnSpc>
              </a:pPr>
              <a:r>
                <a:rPr lang="en-US" b="true" sz="29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19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041125"/>
            <a:ext cx="6923012" cy="6204749"/>
          </a:xfrm>
          <a:custGeom>
            <a:avLst/>
            <a:gdLst/>
            <a:ahLst/>
            <a:cxnLst/>
            <a:rect r="r" b="b" t="t" l="l"/>
            <a:pathLst>
              <a:path h="6204749" w="6923012">
                <a:moveTo>
                  <a:pt x="0" y="0"/>
                </a:moveTo>
                <a:lnTo>
                  <a:pt x="6923012" y="0"/>
                </a:lnTo>
                <a:lnTo>
                  <a:pt x="6923012" y="6204750"/>
                </a:lnTo>
                <a:lnTo>
                  <a:pt x="0" y="6204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72376" y="2649547"/>
            <a:ext cx="9579576" cy="4526350"/>
          </a:xfrm>
          <a:custGeom>
            <a:avLst/>
            <a:gdLst/>
            <a:ahLst/>
            <a:cxnLst/>
            <a:rect r="r" b="b" t="t" l="l"/>
            <a:pathLst>
              <a:path h="4526350" w="9579576">
                <a:moveTo>
                  <a:pt x="0" y="0"/>
                </a:moveTo>
                <a:lnTo>
                  <a:pt x="9579576" y="0"/>
                </a:lnTo>
                <a:lnTo>
                  <a:pt x="9579576" y="4526350"/>
                </a:lnTo>
                <a:lnTo>
                  <a:pt x="0" y="4526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9453" y="390525"/>
            <a:ext cx="4483408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Annexes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400264" y="0"/>
            <a:ext cx="887736" cy="88773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26"/>
                </a:lnSpc>
              </a:pPr>
              <a:r>
                <a:rPr lang="en-US" b="true" sz="29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20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400264" y="0"/>
            <a:ext cx="887736" cy="88773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26"/>
                </a:lnSpc>
              </a:pPr>
              <a:r>
                <a:rPr lang="en-US" b="true" sz="29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21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40030"/>
            <a:ext cx="18288000" cy="9806940"/>
          </a:xfrm>
          <a:custGeom>
            <a:avLst/>
            <a:gdLst/>
            <a:ahLst/>
            <a:cxnLst/>
            <a:rect r="r" b="b" t="t" l="l"/>
            <a:pathLst>
              <a:path h="9806940" w="18288000">
                <a:moveTo>
                  <a:pt x="0" y="0"/>
                </a:moveTo>
                <a:lnTo>
                  <a:pt x="18288000" y="0"/>
                </a:lnTo>
                <a:lnTo>
                  <a:pt x="18288000" y="9806940"/>
                </a:lnTo>
                <a:lnTo>
                  <a:pt x="0" y="9806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400264" y="0"/>
            <a:ext cx="887736" cy="88773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26"/>
                </a:lnSpc>
              </a:pPr>
              <a:r>
                <a:rPr lang="en-US" b="true" sz="29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22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1273" y="0"/>
            <a:ext cx="16625455" cy="10287000"/>
          </a:xfrm>
          <a:custGeom>
            <a:avLst/>
            <a:gdLst/>
            <a:ahLst/>
            <a:cxnLst/>
            <a:rect r="r" b="b" t="t" l="l"/>
            <a:pathLst>
              <a:path h="10287000" w="16625455">
                <a:moveTo>
                  <a:pt x="0" y="0"/>
                </a:moveTo>
                <a:lnTo>
                  <a:pt x="16625454" y="0"/>
                </a:lnTo>
                <a:lnTo>
                  <a:pt x="1662545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400264" y="0"/>
            <a:ext cx="887736" cy="88773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26"/>
                </a:lnSpc>
              </a:pPr>
              <a:r>
                <a:rPr lang="en-US" b="true" sz="29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23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6203" y="0"/>
            <a:ext cx="17435593" cy="10287000"/>
          </a:xfrm>
          <a:custGeom>
            <a:avLst/>
            <a:gdLst/>
            <a:ahLst/>
            <a:cxnLst/>
            <a:rect r="r" b="b" t="t" l="l"/>
            <a:pathLst>
              <a:path h="10287000" w="17435593">
                <a:moveTo>
                  <a:pt x="0" y="0"/>
                </a:moveTo>
                <a:lnTo>
                  <a:pt x="17435594" y="0"/>
                </a:lnTo>
                <a:lnTo>
                  <a:pt x="1743559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400264" y="0"/>
            <a:ext cx="887736" cy="88773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26"/>
                </a:lnSpc>
              </a:pPr>
              <a:r>
                <a:rPr lang="en-US" b="true" sz="2947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24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DAGqh7i4rhI</dc:identifier>
  <dcterms:modified xsi:type="dcterms:W3CDTF">2011-08-01T06:04:30Z</dcterms:modified>
  <cp:revision>1</cp:revision>
  <dc:title>SOUTENANCE_STAGE</dc:title>
</cp:coreProperties>
</file>